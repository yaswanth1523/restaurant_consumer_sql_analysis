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1" r:id="rId3"/>
    <p:sldId id="262" r:id="rId4"/>
    <p:sldId id="287" r:id="rId5"/>
    <p:sldId id="263" r:id="rId6"/>
    <p:sldId id="264" r:id="rId7"/>
    <p:sldId id="265" r:id="rId8"/>
    <p:sldId id="267" r:id="rId9"/>
    <p:sldId id="257" r:id="rId10"/>
    <p:sldId id="260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2" r:id="rId43"/>
    <p:sldId id="320" r:id="rId44"/>
  </p:sldIdLst>
  <p:sldSz cx="12192000" cy="6858000"/>
  <p:notesSz cx="6858000" cy="9144000"/>
  <p:embeddedFontLst>
    <p:embeddedFont>
      <p:font typeface="Bookman Old Style" panose="02050604050505020204" pitchFamily="18" charset="0"/>
      <p:regular r:id="rId46"/>
      <p:bold r:id="rId47"/>
      <p:italic r:id="rId48"/>
      <p:boldItalic r:id="rId49"/>
    </p:embeddedFont>
    <p:embeddedFont>
      <p:font typeface="Georgia" panose="02040502050405020303" pitchFamily="18" charset="0"/>
      <p:regular r:id="rId50"/>
      <p:bold r:id="rId51"/>
      <p:italic r:id="rId52"/>
      <p:boldItalic r:id="rId53"/>
    </p:embeddedFont>
    <p:embeddedFont>
      <p:font typeface="Lato Black" panose="020F0502020204030203" pitchFamily="34" charset="0"/>
      <p:bold r:id="rId54"/>
      <p:boldItalic r:id="rId55"/>
    </p:embeddedFont>
    <p:embeddedFont>
      <p:font typeface="Libre Baskerville" panose="02000000000000000000" pitchFamily="2" charset="0"/>
      <p:regular r:id="rId56"/>
      <p:bold r:id="rId57"/>
      <p: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B140"/>
    <a:srgbClr val="2970B3"/>
    <a:srgbClr val="94C276"/>
    <a:srgbClr val="07A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86" dt="2026-09-06T17:58:09.058"/>
    <p1510:client id="{2774A285-F1AC-C25A-0672-A40CE0107C03}" v="467" dt="2026-09-05T15:58:44.367"/>
    <p1510:client id="{8066B194-80C5-0070-727A-8D22476CFAC2}" v="1103" dt="2026-09-06T17:02:08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0899668-08EE-DF53-606D-0F0EE896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979AD53-652E-93DA-2CC3-E2BB58C7A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CF0E11A-CA99-EBC9-AC1A-F70EDD3DA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326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4C97F95-8B12-386F-F440-B4D040F5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F1AECC6-C5B4-2D9E-E67D-2F44C749F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E4882CC-0A51-16DA-CB01-94C7344E3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86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EC8BD65-4149-1BD1-FD99-16F775E0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971B11E-88B1-C4EE-68A5-C9E280EE9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2739A2C-1F42-8FCC-E16C-D2D65EA75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5010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44B0119-98A0-3670-0816-B86B8387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43F32B0-E5BA-F9CE-E890-37E3F92B7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B65833D-6397-97F6-CEDD-9826B8545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3139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1DE5C4-12B9-A0B0-1BD4-B2049CEF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346A18C-3226-2369-3E9E-6020A8E52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E236C65-DD7E-6285-CB7B-048909E13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074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5A1A793-DCC6-D8EA-33E1-EF028AA3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0D79D12-1020-5E24-1300-A6A2CF51F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000B577-86C8-AE27-3EE1-CBBC316FA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7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1BE48A0-DAED-0B5E-87A1-F9F66C5B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4FAA93D-592F-1CCE-4C9F-D812D2148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154638D-A5C9-6CEC-E357-08F34804C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1948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7483264-3EF6-ECCB-7D28-B9663137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8D65E14-E97A-7413-77EE-D2663C57C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54EFA9E-FB5D-5BB3-EDD2-D5AC229A0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02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B38DB18-65DC-E070-6E63-4BDE62D1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6B69EAA-8B63-5424-D081-C207A5ECF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3A8EA17-A8F6-9B72-79B4-3EE4C5C01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791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A64B769-661D-1FF2-6785-68537C2E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B40BC40-7B6F-0DA5-76A3-02E62C536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CB1BCE9-14DF-98D6-48D7-163376B26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5541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724702-8CBB-13A5-8270-36B2DDF5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454EEDE-2C8F-582F-E41C-EF2C3328F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D918C61-73E0-A85D-BF02-560C080AF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5065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51377C2-E912-8442-7F84-AF954A84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D79070B-D827-BA23-D355-C7532C583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8A6BC95-98C7-C5C2-997F-E0774BE66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9173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7142F29-D500-DB35-FD7C-D1D13B91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922B276-97DE-C98C-6F6D-1B5A3BA24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0E437F2-3E5D-0942-D8BD-FDB65B414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6855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F18CD6-D691-BAC8-D34E-F2877F31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4A05C1C-EC2A-A550-ACAF-39D18B638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42BD431-5949-1E53-B165-6139B7091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1782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6765B3-FEED-E529-3C47-AFA9BCCE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DD87E09-AC67-BE62-FDE7-0609165DF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1CE0B63-B926-F1A5-A5A4-AB0018B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3162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0D36D6-908B-1DE2-A5A7-A5D9A484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7CDF879-E524-25E7-F21D-37F527EE8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D75A33-3CC4-99E7-90FE-89E162FBE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5357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4EFF6FD-C69C-C1FD-7F1F-CEB7CB8C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6A71EF-9DD9-544E-1B30-AE1BEA865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E3B034A-EEE8-0E42-E8D7-04658B805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8244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949E40C-BC6F-F7E7-190F-CC8326A5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A60E231-4BE6-F8D4-2378-62AC037F9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F3674CD-83BB-0C7F-B748-6A0E8308A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614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BC7D655-21D3-6768-2397-E35A9549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B93593B-2C12-6637-25A9-D895E4286A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C56063F-82D1-0669-A1B6-77FA63D50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341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23B2762-65E6-E3E7-0414-2629E5AF2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CCDF684-34D2-9B57-F817-D478598D1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4DD00BB-2EED-BD03-D8D0-822EC7C8E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632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7DE8412-0266-7AF7-40AE-8E961356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B2047CB-BB63-7C8B-7774-33874B08B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F678FC6-F3D0-21D5-34A0-7D44E6A8B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54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A752B8-7D2A-36AD-AFBE-219022D5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B0985D6-1C3B-7446-2105-8DB510488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DA187FB-8D8E-1DEA-4976-21BFADA1F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923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8674243-0538-EBC1-06DF-F6FB7AFEB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4A47E58-A287-CD53-AECF-BDA56C698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B48CCC2-7886-8E46-D45B-E303F6871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505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4AE9DE9-E74C-31E6-49CB-F9EAE3B6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6D7747F-D47B-5B25-4277-38CA368C8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4785A2C-5EC9-76FF-3461-BE6167BB7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4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81F87B8-6E1E-C742-73C6-D92284E4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7A6081F-E066-ECAB-B728-36BC9452C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D94B6FA-A51D-E83A-F4DA-3C2D025F6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887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B6918DF-C891-4651-8664-BB1C2535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D06BC8F-101F-8B3F-DFCA-E980BA59E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953513E-DB0E-E773-4095-8CEB71F4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128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AE281C7-C60F-0BCA-BE91-8B269992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644C166-419F-4634-C754-2375E27FB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F02C1AD-50AF-2ED4-ADAB-230C32FF7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69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7677F00-972C-3222-A6D9-C0B43A75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C03D762-258D-444B-CE53-AD5855F52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8317338-48CA-F92E-967D-81FC155BB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73083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4CACBA7-FE40-628B-0F95-9D408A27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12E04F-EDB9-0317-5676-1F4D924A4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CF7C4BD-D2C6-C495-BD63-7BE810A33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92483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565A2F-A16E-362F-F6CE-156F412D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CCC52A8-43A9-97ED-8A1E-F13362CACA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E035AD4-CE1D-12A4-9E44-A5BDFD4F7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806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5654AE5-A1F0-3239-4351-52836D34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CAEE4A1-C9B8-647A-080B-93EAAAFEA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6339409-28B6-35CD-FA0D-81FBA6468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4471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8838C02-B6AB-68BC-7EB1-4378FAA5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FF612E1-3B34-B954-90B9-23A0049F7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C23029B-0CEB-DE24-16D8-E519B32CC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924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0874DA6-3DC8-3AF6-E5CB-A6DF2CFE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FA29AC3-5AC0-9A49-3202-0023C8EE1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C63ADAD-4539-CDD5-F62D-D9FE4119C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24867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B3B4F3-5EE4-4DDB-81F1-7B76461F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A71DD25-0975-C6F8-B0B1-FA33E8EBE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3ED90A3-AF20-953A-CB95-8BE3D8ED5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06097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653F1E4-05B2-1833-F0B8-B1B4AB1B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6406B21-83B7-DF24-838E-E184F1141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C72AA6E-5B2C-BA77-CA31-5B681B12E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6096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CA5958F-1A52-2BFD-E3F0-CC6E88DC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AB142AE-FA61-94ED-EA66-43441CC598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6460203-0E57-7F9A-0F4C-E5FACD14E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4574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14D5728-F9A0-CE09-2E1A-157F894C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8638B6D-3477-A66B-8127-2FDE28EBE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B58021F-56C9-3924-57CB-390DC75CC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5143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35E9D99-7997-0288-695E-621DBB1F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7736527-A0A8-3F9F-B52C-3A61AF9FD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3F057D1-CBE2-C58B-EF96-A0CF860B4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81957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E5DB9AD-3BEE-6BF5-271D-1E7F72F9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A7E696B-4CA1-1309-399A-591DBBD6E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42D1993-3419-6854-05E5-F58600853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9671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A3581F3-A034-DAE3-E1A8-FE3C90CC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7371D9A-D671-F548-CE86-E088B9C5E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BE88412-8524-A392-CB72-B3D854CD4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66468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1C0C96-C091-FA46-C017-32718839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C0BC795-14A6-DF93-B230-91F457B3E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708208B-9C79-94FF-0522-141B8DC85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151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2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5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446" y="857250"/>
            <a:ext cx="9143111" cy="50205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315178" y="3781811"/>
            <a:ext cx="5561642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IN" sz="2700" b="1" dirty="0">
                <a:latin typeface="Georgia"/>
                <a:ea typeface="Calibri"/>
                <a:cs typeface="Calibri"/>
              </a:rPr>
              <a:t>Restaurant and Consumer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1774D4E9-FC2E-D7CB-6D3D-4D16D2C3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C5030-55DB-4D5A-5FA8-4961C5A8A760}"/>
              </a:ext>
            </a:extLst>
          </p:cNvPr>
          <p:cNvSpPr txBox="1"/>
          <p:nvPr/>
        </p:nvSpPr>
        <p:spPr>
          <a:xfrm>
            <a:off x="1154906" y="773706"/>
            <a:ext cx="3972710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 dirty="0"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Restaurant &amp; </a:t>
            </a:r>
          </a:p>
          <a:p>
            <a:r>
              <a:rPr lang="en-US" sz="3800" dirty="0"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Consumer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229EF-E2D1-0B06-43B7-1219BF582866}"/>
              </a:ext>
            </a:extLst>
          </p:cNvPr>
          <p:cNvSpPr txBox="1"/>
          <p:nvPr/>
        </p:nvSpPr>
        <p:spPr>
          <a:xfrm>
            <a:off x="1154731" y="2440595"/>
            <a:ext cx="39828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>
                    <a:lumMod val="76000"/>
                  </a:schemeClr>
                </a:solidFill>
              </a:rPr>
              <a:t>Analysis using SQL &amp; MYSQL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71687-64AB-9793-C6E4-21EEC682FFC1}"/>
              </a:ext>
            </a:extLst>
          </p:cNvPr>
          <p:cNvSpPr txBox="1"/>
          <p:nvPr/>
        </p:nvSpPr>
        <p:spPr>
          <a:xfrm>
            <a:off x="1149116" y="3276703"/>
            <a:ext cx="572296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bg1">
                    <a:lumMod val="76000"/>
                  </a:schemeClr>
                </a:solidFill>
              </a:rPr>
              <a:t>From raw CSV data into relational database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E956A-1108-5D51-C33D-64F63DCAF187}"/>
              </a:ext>
            </a:extLst>
          </p:cNvPr>
          <p:cNvSpPr txBox="1"/>
          <p:nvPr/>
        </p:nvSpPr>
        <p:spPr>
          <a:xfrm>
            <a:off x="802179" y="370368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39E1A-550C-8144-1A9A-1590961A244E}"/>
              </a:ext>
            </a:extLst>
          </p:cNvPr>
          <p:cNvSpPr txBox="1"/>
          <p:nvPr/>
        </p:nvSpPr>
        <p:spPr>
          <a:xfrm>
            <a:off x="1149594" y="4545930"/>
            <a:ext cx="45174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Presented by Yaswanth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AD3ED-CB7C-C3A2-0504-6314517813D8}"/>
              </a:ext>
            </a:extLst>
          </p:cNvPr>
          <p:cNvSpPr/>
          <p:nvPr/>
        </p:nvSpPr>
        <p:spPr>
          <a:xfrm>
            <a:off x="1166806" y="4466282"/>
            <a:ext cx="3753176" cy="8844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406A3-A8CA-D36D-26DD-F85FB6E5402A}"/>
              </a:ext>
            </a:extLst>
          </p:cNvPr>
          <p:cNvSpPr txBox="1"/>
          <p:nvPr/>
        </p:nvSpPr>
        <p:spPr>
          <a:xfrm>
            <a:off x="1143708" y="5894260"/>
            <a:ext cx="554099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SQL | DATABASE DESIGN | DATA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140B1-837F-8700-FC27-A75F4A190A41}"/>
              </a:ext>
            </a:extLst>
          </p:cNvPr>
          <p:cNvSpPr/>
          <p:nvPr/>
        </p:nvSpPr>
        <p:spPr>
          <a:xfrm>
            <a:off x="11324807" y="-29"/>
            <a:ext cx="872091" cy="5236575"/>
          </a:xfrm>
          <a:prstGeom prst="rect">
            <a:avLst/>
          </a:prstGeom>
          <a:solidFill>
            <a:srgbClr val="D6B14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D6BDB-DA84-C3C3-1194-507E2231A63A}"/>
              </a:ext>
            </a:extLst>
          </p:cNvPr>
          <p:cNvSpPr/>
          <p:nvPr/>
        </p:nvSpPr>
        <p:spPr>
          <a:xfrm>
            <a:off x="10461207" y="-29"/>
            <a:ext cx="872091" cy="438313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5C5EF6-A118-4C2E-701C-64EED132082F}"/>
              </a:ext>
            </a:extLst>
          </p:cNvPr>
          <p:cNvSpPr/>
          <p:nvPr/>
        </p:nvSpPr>
        <p:spPr>
          <a:xfrm>
            <a:off x="9597607" y="-29"/>
            <a:ext cx="872091" cy="3610975"/>
          </a:xfrm>
          <a:prstGeom prst="rect">
            <a:avLst/>
          </a:prstGeom>
          <a:solidFill>
            <a:srgbClr val="2970B3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490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AAAEF-C36D-0808-27E3-64CE20AC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A0EF2-C196-2DB3-66A4-C20460266098}"/>
              </a:ext>
            </a:extLst>
          </p:cNvPr>
          <p:cNvSpPr txBox="1"/>
          <p:nvPr/>
        </p:nvSpPr>
        <p:spPr>
          <a:xfrm>
            <a:off x="654328" y="478085"/>
            <a:ext cx="32549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Project Introduction</a:t>
            </a:r>
            <a:endParaRPr lang="en-US" sz="24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777B2-E4AD-0854-2098-BF9220127E2C}"/>
              </a:ext>
            </a:extLst>
          </p:cNvPr>
          <p:cNvSpPr/>
          <p:nvPr/>
        </p:nvSpPr>
        <p:spPr>
          <a:xfrm>
            <a:off x="659993" y="944495"/>
            <a:ext cx="1615428" cy="125135"/>
          </a:xfrm>
          <a:prstGeom prst="rect">
            <a:avLst/>
          </a:prstGeom>
          <a:solidFill>
            <a:srgbClr val="07A8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DE30A-BC57-7477-955F-173BACAD1CF1}"/>
              </a:ext>
            </a:extLst>
          </p:cNvPr>
          <p:cNvSpPr txBox="1"/>
          <p:nvPr/>
        </p:nvSpPr>
        <p:spPr>
          <a:xfrm>
            <a:off x="660071" y="1234613"/>
            <a:ext cx="61551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ptos"/>
              </a:rPr>
              <a:t>A relational analysis of consumers, restaurants, cuisines and ratings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37FD6-6AF4-9B62-B87A-E2C0D300CFC4}"/>
              </a:ext>
            </a:extLst>
          </p:cNvPr>
          <p:cNvSpPr txBox="1"/>
          <p:nvPr/>
        </p:nvSpPr>
        <p:spPr>
          <a:xfrm>
            <a:off x="660055" y="1877505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7A880"/>
                </a:solidFill>
              </a:rPr>
              <a:t>PROJECT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5DBB4-E631-EAE8-E8CF-9F488FB8BBC7}"/>
              </a:ext>
            </a:extLst>
          </p:cNvPr>
          <p:cNvSpPr/>
          <p:nvPr/>
        </p:nvSpPr>
        <p:spPr>
          <a:xfrm>
            <a:off x="665718" y="2583117"/>
            <a:ext cx="2019853" cy="705389"/>
          </a:xfrm>
          <a:prstGeom prst="rect">
            <a:avLst/>
          </a:prstGeom>
          <a:ln w="6350"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2406539"/>
                      <a:gd name="csY0" fmla="*/ 0 h 841866"/>
                      <a:gd name="csX1" fmla="*/ 2406539 w 2406539"/>
                      <a:gd name="csY1" fmla="*/ 0 h 841866"/>
                      <a:gd name="csX2" fmla="*/ 2406539 w 2406539"/>
                      <a:gd name="csY2" fmla="*/ 841866 h 841866"/>
                      <a:gd name="csX3" fmla="*/ 0 w 2406539"/>
                      <a:gd name="csY3" fmla="*/ 841866 h 841866"/>
                      <a:gd name="csX4" fmla="*/ 0 w 2406539"/>
                      <a:gd name="csY4" fmla="*/ 0 h 8418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406539" h="841866" fill="none" extrusionOk="0">
                        <a:moveTo>
                          <a:pt x="0" y="0"/>
                        </a:moveTo>
                        <a:cubicBezTo>
                          <a:pt x="337430" y="-149972"/>
                          <a:pt x="2038607" y="85198"/>
                          <a:pt x="2406539" y="0"/>
                        </a:cubicBezTo>
                        <a:cubicBezTo>
                          <a:pt x="2331317" y="268529"/>
                          <a:pt x="2354828" y="592728"/>
                          <a:pt x="2406539" y="841866"/>
                        </a:cubicBezTo>
                        <a:cubicBezTo>
                          <a:pt x="1750294" y="933242"/>
                          <a:pt x="893686" y="835809"/>
                          <a:pt x="0" y="841866"/>
                        </a:cubicBezTo>
                        <a:cubicBezTo>
                          <a:pt x="25236" y="423030"/>
                          <a:pt x="-1724" y="153510"/>
                          <a:pt x="0" y="0"/>
                        </a:cubicBezTo>
                        <a:close/>
                      </a:path>
                      <a:path w="2406539" h="841866" stroke="0" extrusionOk="0">
                        <a:moveTo>
                          <a:pt x="0" y="0"/>
                        </a:moveTo>
                        <a:cubicBezTo>
                          <a:pt x="419986" y="-113254"/>
                          <a:pt x="1220679" y="102601"/>
                          <a:pt x="2406539" y="0"/>
                        </a:cubicBezTo>
                        <a:cubicBezTo>
                          <a:pt x="2349845" y="131182"/>
                          <a:pt x="2368544" y="574262"/>
                          <a:pt x="2406539" y="841866"/>
                        </a:cubicBezTo>
                        <a:cubicBezTo>
                          <a:pt x="2134527" y="897676"/>
                          <a:pt x="619239" y="1010824"/>
                          <a:pt x="0" y="841866"/>
                        </a:cubicBezTo>
                        <a:cubicBezTo>
                          <a:pt x="7212" y="716756"/>
                          <a:pt x="-47873" y="413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cs typeface="Arial"/>
              </a:rPr>
              <a:t>Raw CSV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FEE8D-FC30-E6F1-8A40-2081A7BCFF83}"/>
              </a:ext>
            </a:extLst>
          </p:cNvPr>
          <p:cNvSpPr/>
          <p:nvPr/>
        </p:nvSpPr>
        <p:spPr>
          <a:xfrm>
            <a:off x="3543120" y="2583116"/>
            <a:ext cx="2031226" cy="705389"/>
          </a:xfrm>
          <a:prstGeom prst="rect">
            <a:avLst/>
          </a:prstGeom>
          <a:solidFill>
            <a:srgbClr val="07A880"/>
          </a:solidFill>
          <a:ln w="6350"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2406539"/>
                      <a:gd name="csY0" fmla="*/ 0 h 841866"/>
                      <a:gd name="csX1" fmla="*/ 2406539 w 2406539"/>
                      <a:gd name="csY1" fmla="*/ 0 h 841866"/>
                      <a:gd name="csX2" fmla="*/ 2406539 w 2406539"/>
                      <a:gd name="csY2" fmla="*/ 841866 h 841866"/>
                      <a:gd name="csX3" fmla="*/ 0 w 2406539"/>
                      <a:gd name="csY3" fmla="*/ 841866 h 841866"/>
                      <a:gd name="csX4" fmla="*/ 0 w 2406539"/>
                      <a:gd name="csY4" fmla="*/ 0 h 8418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406539" h="841866" fill="none" extrusionOk="0">
                        <a:moveTo>
                          <a:pt x="0" y="0"/>
                        </a:moveTo>
                        <a:cubicBezTo>
                          <a:pt x="337430" y="-149972"/>
                          <a:pt x="2038607" y="85198"/>
                          <a:pt x="2406539" y="0"/>
                        </a:cubicBezTo>
                        <a:cubicBezTo>
                          <a:pt x="2331317" y="268529"/>
                          <a:pt x="2354828" y="592728"/>
                          <a:pt x="2406539" y="841866"/>
                        </a:cubicBezTo>
                        <a:cubicBezTo>
                          <a:pt x="1750294" y="933242"/>
                          <a:pt x="893686" y="835809"/>
                          <a:pt x="0" y="841866"/>
                        </a:cubicBezTo>
                        <a:cubicBezTo>
                          <a:pt x="25236" y="423030"/>
                          <a:pt x="-1724" y="153510"/>
                          <a:pt x="0" y="0"/>
                        </a:cubicBezTo>
                        <a:close/>
                      </a:path>
                      <a:path w="2406539" h="841866" stroke="0" extrusionOk="0">
                        <a:moveTo>
                          <a:pt x="0" y="0"/>
                        </a:moveTo>
                        <a:cubicBezTo>
                          <a:pt x="419986" y="-113254"/>
                          <a:pt x="1220679" y="102601"/>
                          <a:pt x="2406539" y="0"/>
                        </a:cubicBezTo>
                        <a:cubicBezTo>
                          <a:pt x="2349845" y="131182"/>
                          <a:pt x="2368544" y="574262"/>
                          <a:pt x="2406539" y="841866"/>
                        </a:cubicBezTo>
                        <a:cubicBezTo>
                          <a:pt x="2134527" y="897676"/>
                          <a:pt x="619239" y="1010824"/>
                          <a:pt x="0" y="841866"/>
                        </a:cubicBezTo>
                        <a:cubicBezTo>
                          <a:pt x="7212" y="716756"/>
                          <a:pt x="-47873" y="413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My SQL </a:t>
            </a:r>
            <a:r>
              <a:rPr lang="en-US" b="1" dirty="0" err="1">
                <a:cs typeface="Arial"/>
              </a:rPr>
              <a:t>DataBase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37DA98-CE70-DD0E-558B-8E267A33CE12}"/>
              </a:ext>
            </a:extLst>
          </p:cNvPr>
          <p:cNvSpPr/>
          <p:nvPr/>
        </p:nvSpPr>
        <p:spPr>
          <a:xfrm>
            <a:off x="6431896" y="2583117"/>
            <a:ext cx="2031226" cy="705389"/>
          </a:xfrm>
          <a:prstGeom prst="rect">
            <a:avLst/>
          </a:prstGeom>
          <a:solidFill>
            <a:srgbClr val="D6B140"/>
          </a:solidFill>
          <a:ln w="6350"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2406539"/>
                      <a:gd name="csY0" fmla="*/ 0 h 841866"/>
                      <a:gd name="csX1" fmla="*/ 2406539 w 2406539"/>
                      <a:gd name="csY1" fmla="*/ 0 h 841866"/>
                      <a:gd name="csX2" fmla="*/ 2406539 w 2406539"/>
                      <a:gd name="csY2" fmla="*/ 841866 h 841866"/>
                      <a:gd name="csX3" fmla="*/ 0 w 2406539"/>
                      <a:gd name="csY3" fmla="*/ 841866 h 841866"/>
                      <a:gd name="csX4" fmla="*/ 0 w 2406539"/>
                      <a:gd name="csY4" fmla="*/ 0 h 8418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406539" h="841866" fill="none" extrusionOk="0">
                        <a:moveTo>
                          <a:pt x="0" y="0"/>
                        </a:moveTo>
                        <a:cubicBezTo>
                          <a:pt x="337430" y="-149972"/>
                          <a:pt x="2038607" y="85198"/>
                          <a:pt x="2406539" y="0"/>
                        </a:cubicBezTo>
                        <a:cubicBezTo>
                          <a:pt x="2331317" y="268529"/>
                          <a:pt x="2354828" y="592728"/>
                          <a:pt x="2406539" y="841866"/>
                        </a:cubicBezTo>
                        <a:cubicBezTo>
                          <a:pt x="1750294" y="933242"/>
                          <a:pt x="893686" y="835809"/>
                          <a:pt x="0" y="841866"/>
                        </a:cubicBezTo>
                        <a:cubicBezTo>
                          <a:pt x="25236" y="423030"/>
                          <a:pt x="-1724" y="153510"/>
                          <a:pt x="0" y="0"/>
                        </a:cubicBezTo>
                        <a:close/>
                      </a:path>
                      <a:path w="2406539" h="841866" stroke="0" extrusionOk="0">
                        <a:moveTo>
                          <a:pt x="0" y="0"/>
                        </a:moveTo>
                        <a:cubicBezTo>
                          <a:pt x="419986" y="-113254"/>
                          <a:pt x="1220679" y="102601"/>
                          <a:pt x="2406539" y="0"/>
                        </a:cubicBezTo>
                        <a:cubicBezTo>
                          <a:pt x="2349845" y="131182"/>
                          <a:pt x="2368544" y="574262"/>
                          <a:pt x="2406539" y="841866"/>
                        </a:cubicBezTo>
                        <a:cubicBezTo>
                          <a:pt x="2134527" y="897676"/>
                          <a:pt x="619239" y="1010824"/>
                          <a:pt x="0" y="841866"/>
                        </a:cubicBezTo>
                        <a:cubicBezTo>
                          <a:pt x="7212" y="716756"/>
                          <a:pt x="-47873" y="413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SQL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75D52-2E83-9321-E71A-70C0370E278B}"/>
              </a:ext>
            </a:extLst>
          </p:cNvPr>
          <p:cNvSpPr/>
          <p:nvPr/>
        </p:nvSpPr>
        <p:spPr>
          <a:xfrm>
            <a:off x="9320673" y="2583117"/>
            <a:ext cx="2031226" cy="705389"/>
          </a:xfrm>
          <a:prstGeom prst="rect">
            <a:avLst/>
          </a:prstGeom>
          <a:solidFill>
            <a:schemeClr val="tx1"/>
          </a:solidFill>
          <a:ln w="6350"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2406539"/>
                      <a:gd name="csY0" fmla="*/ 0 h 841866"/>
                      <a:gd name="csX1" fmla="*/ 2406539 w 2406539"/>
                      <a:gd name="csY1" fmla="*/ 0 h 841866"/>
                      <a:gd name="csX2" fmla="*/ 2406539 w 2406539"/>
                      <a:gd name="csY2" fmla="*/ 841866 h 841866"/>
                      <a:gd name="csX3" fmla="*/ 0 w 2406539"/>
                      <a:gd name="csY3" fmla="*/ 841866 h 841866"/>
                      <a:gd name="csX4" fmla="*/ 0 w 2406539"/>
                      <a:gd name="csY4" fmla="*/ 0 h 8418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406539" h="841866" fill="none" extrusionOk="0">
                        <a:moveTo>
                          <a:pt x="0" y="0"/>
                        </a:moveTo>
                        <a:cubicBezTo>
                          <a:pt x="337430" y="-149972"/>
                          <a:pt x="2038607" y="85198"/>
                          <a:pt x="2406539" y="0"/>
                        </a:cubicBezTo>
                        <a:cubicBezTo>
                          <a:pt x="2331317" y="268529"/>
                          <a:pt x="2354828" y="592728"/>
                          <a:pt x="2406539" y="841866"/>
                        </a:cubicBezTo>
                        <a:cubicBezTo>
                          <a:pt x="1750294" y="933242"/>
                          <a:pt x="893686" y="835809"/>
                          <a:pt x="0" y="841866"/>
                        </a:cubicBezTo>
                        <a:cubicBezTo>
                          <a:pt x="25236" y="423030"/>
                          <a:pt x="-1724" y="153510"/>
                          <a:pt x="0" y="0"/>
                        </a:cubicBezTo>
                        <a:close/>
                      </a:path>
                      <a:path w="2406539" h="841866" stroke="0" extrusionOk="0">
                        <a:moveTo>
                          <a:pt x="0" y="0"/>
                        </a:moveTo>
                        <a:cubicBezTo>
                          <a:pt x="419986" y="-113254"/>
                          <a:pt x="1220679" y="102601"/>
                          <a:pt x="2406539" y="0"/>
                        </a:cubicBezTo>
                        <a:cubicBezTo>
                          <a:pt x="2349845" y="131182"/>
                          <a:pt x="2368544" y="574262"/>
                          <a:pt x="2406539" y="841866"/>
                        </a:cubicBezTo>
                        <a:cubicBezTo>
                          <a:pt x="2134527" y="897676"/>
                          <a:pt x="619239" y="1010824"/>
                          <a:pt x="0" y="841866"/>
                        </a:cubicBezTo>
                        <a:cubicBezTo>
                          <a:pt x="7212" y="716756"/>
                          <a:pt x="-47873" y="413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Verified Results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E3CF27F-870F-121E-84A7-65930B7D3108}"/>
              </a:ext>
            </a:extLst>
          </p:cNvPr>
          <p:cNvSpPr/>
          <p:nvPr/>
        </p:nvSpPr>
        <p:spPr>
          <a:xfrm>
            <a:off x="2799079" y="2844652"/>
            <a:ext cx="597368" cy="18774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35C8F05-91CE-906A-061C-8B87601B7124}"/>
              </a:ext>
            </a:extLst>
          </p:cNvPr>
          <p:cNvSpPr/>
          <p:nvPr/>
        </p:nvSpPr>
        <p:spPr>
          <a:xfrm>
            <a:off x="5790213" y="2844651"/>
            <a:ext cx="597368" cy="18774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725735F-4F31-D5C2-B91E-26AB1D850623}"/>
              </a:ext>
            </a:extLst>
          </p:cNvPr>
          <p:cNvSpPr/>
          <p:nvPr/>
        </p:nvSpPr>
        <p:spPr>
          <a:xfrm>
            <a:off x="8576631" y="2844652"/>
            <a:ext cx="597368" cy="18774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F98B5-8D1B-DA71-A11F-FEE0708CB52F}"/>
              </a:ext>
            </a:extLst>
          </p:cNvPr>
          <p:cNvSpPr txBox="1"/>
          <p:nvPr/>
        </p:nvSpPr>
        <p:spPr>
          <a:xfrm>
            <a:off x="660071" y="4147536"/>
            <a:ext cx="34938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What the project contains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C950E-137D-10A0-49BB-49894432DAFB}"/>
              </a:ext>
            </a:extLst>
          </p:cNvPr>
          <p:cNvSpPr txBox="1"/>
          <p:nvPr/>
        </p:nvSpPr>
        <p:spPr>
          <a:xfrm>
            <a:off x="648666" y="4676601"/>
            <a:ext cx="430131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dirty="0">
                <a:latin typeface="Aptos"/>
              </a:rPr>
              <a:t>Consumer profiles and demographics</a:t>
            </a:r>
          </a:p>
          <a:p>
            <a:pPr marL="285750" indent="-285750">
              <a:buChar char="•"/>
            </a:pPr>
            <a:r>
              <a:rPr lang="en-US" sz="1600" dirty="0">
                <a:latin typeface="Aptos"/>
              </a:rPr>
              <a:t>Consumer cuisine preferences</a:t>
            </a:r>
          </a:p>
          <a:p>
            <a:pPr marL="285750" indent="-285750">
              <a:buChar char="•"/>
            </a:pPr>
            <a:r>
              <a:rPr lang="en-US" sz="1600" dirty="0">
                <a:latin typeface="Aptos"/>
              </a:rPr>
              <a:t>Restaurant information and characteristics</a:t>
            </a:r>
          </a:p>
          <a:p>
            <a:pPr marL="285750" indent="-285750">
              <a:buChar char="•"/>
            </a:pPr>
            <a:r>
              <a:rPr lang="en-US" sz="1600" dirty="0">
                <a:latin typeface="Aptos"/>
              </a:rPr>
              <a:t>Consumer ratings for restaurants</a:t>
            </a:r>
          </a:p>
        </p:txBody>
      </p:sp>
    </p:spTree>
    <p:extLst>
      <p:ext uri="{BB962C8B-B14F-4D97-AF65-F5344CB8AC3E}">
        <p14:creationId xmlns:p14="http://schemas.microsoft.com/office/powerpoint/2010/main" val="22499276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7CC9C1E-79A2-7992-D664-14E2ACE9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B6138-1749-36CD-AB33-9F944427C9A5}"/>
              </a:ext>
            </a:extLst>
          </p:cNvPr>
          <p:cNvSpPr txBox="1"/>
          <p:nvPr/>
        </p:nvSpPr>
        <p:spPr>
          <a:xfrm>
            <a:off x="654328" y="478085"/>
            <a:ext cx="45629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Objective of the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568F7-94DD-8BDF-ED5D-1514FE39D59A}"/>
              </a:ext>
            </a:extLst>
          </p:cNvPr>
          <p:cNvSpPr/>
          <p:nvPr/>
        </p:nvSpPr>
        <p:spPr>
          <a:xfrm>
            <a:off x="659993" y="944495"/>
            <a:ext cx="1615428" cy="125135"/>
          </a:xfrm>
          <a:prstGeom prst="rect">
            <a:avLst/>
          </a:prstGeom>
          <a:solidFill>
            <a:srgbClr val="07A8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BF2ED-F74D-23A2-739C-91D86EFAF42C}"/>
              </a:ext>
            </a:extLst>
          </p:cNvPr>
          <p:cNvSpPr txBox="1"/>
          <p:nvPr/>
        </p:nvSpPr>
        <p:spPr>
          <a:xfrm>
            <a:off x="660071" y="1234613"/>
            <a:ext cx="61551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ptos"/>
              </a:rPr>
              <a:t>What the project was designed to accomplish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17BB3AA-9F3B-46F2-E43D-E2ADF03EBBB8}"/>
              </a:ext>
            </a:extLst>
          </p:cNvPr>
          <p:cNvSpPr/>
          <p:nvPr/>
        </p:nvSpPr>
        <p:spPr>
          <a:xfrm rot="10800000">
            <a:off x="836314" y="2167592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06981518-372F-4787-5A48-DD6F026283E5}"/>
              </a:ext>
            </a:extLst>
          </p:cNvPr>
          <p:cNvSpPr/>
          <p:nvPr/>
        </p:nvSpPr>
        <p:spPr>
          <a:xfrm rot="10800000">
            <a:off x="4566702" y="2167592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695C848A-01A2-0071-0932-C82E0A1125F8}"/>
              </a:ext>
            </a:extLst>
          </p:cNvPr>
          <p:cNvSpPr/>
          <p:nvPr/>
        </p:nvSpPr>
        <p:spPr>
          <a:xfrm rot="10800000">
            <a:off x="8240224" y="4135144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83206991-BEF2-6C69-D7FC-0DFB15AEDD8E}"/>
              </a:ext>
            </a:extLst>
          </p:cNvPr>
          <p:cNvSpPr/>
          <p:nvPr/>
        </p:nvSpPr>
        <p:spPr>
          <a:xfrm rot="10800000">
            <a:off x="8240223" y="2167591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4E2AD5C4-C3CB-329C-957A-43CE69A1962C}"/>
              </a:ext>
            </a:extLst>
          </p:cNvPr>
          <p:cNvSpPr/>
          <p:nvPr/>
        </p:nvSpPr>
        <p:spPr>
          <a:xfrm rot="10800000">
            <a:off x="4566701" y="4135143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75EB06B1-0D06-C021-8FE1-EF603F19E124}"/>
              </a:ext>
            </a:extLst>
          </p:cNvPr>
          <p:cNvSpPr/>
          <p:nvPr/>
        </p:nvSpPr>
        <p:spPr>
          <a:xfrm rot="10800000">
            <a:off x="836313" y="4135144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B7FF65-F1AA-217A-83E3-01DD4373F12C}"/>
              </a:ext>
            </a:extLst>
          </p:cNvPr>
          <p:cNvSpPr txBox="1"/>
          <p:nvPr/>
        </p:nvSpPr>
        <p:spPr>
          <a:xfrm>
            <a:off x="990051" y="238953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b="1" dirty="0"/>
              <a:t>Structure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5F0E48-8720-7AD7-CA2E-98BAD44D9E4F}"/>
              </a:ext>
            </a:extLst>
          </p:cNvPr>
          <p:cNvSpPr txBox="1"/>
          <p:nvPr/>
        </p:nvSpPr>
        <p:spPr>
          <a:xfrm>
            <a:off x="995889" y="2691249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Convert raw CSV files into relational MY SQL database with meaningful entities and relationships.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2E14D2-F47A-7192-5441-5A192300947D}"/>
              </a:ext>
            </a:extLst>
          </p:cNvPr>
          <p:cNvSpPr/>
          <p:nvPr/>
        </p:nvSpPr>
        <p:spPr>
          <a:xfrm>
            <a:off x="830620" y="2167592"/>
            <a:ext cx="3379348" cy="18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3AF891-24AE-512A-74BA-88E75C7C0B88}"/>
              </a:ext>
            </a:extLst>
          </p:cNvPr>
          <p:cNvSpPr/>
          <p:nvPr/>
        </p:nvSpPr>
        <p:spPr>
          <a:xfrm>
            <a:off x="4572380" y="2167591"/>
            <a:ext cx="3379348" cy="187744"/>
          </a:xfrm>
          <a:prstGeom prst="rect">
            <a:avLst/>
          </a:prstGeom>
          <a:solidFill>
            <a:srgbClr val="07A8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BC3C79-E719-D295-B07A-946107D84816}"/>
              </a:ext>
            </a:extLst>
          </p:cNvPr>
          <p:cNvSpPr/>
          <p:nvPr/>
        </p:nvSpPr>
        <p:spPr>
          <a:xfrm>
            <a:off x="8245903" y="2167591"/>
            <a:ext cx="3379348" cy="187744"/>
          </a:xfrm>
          <a:prstGeom prst="rect">
            <a:avLst/>
          </a:prstGeom>
          <a:solidFill>
            <a:srgbClr val="D6B1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017FA6-410E-32BC-AF38-459448333553}"/>
              </a:ext>
            </a:extLst>
          </p:cNvPr>
          <p:cNvSpPr/>
          <p:nvPr/>
        </p:nvSpPr>
        <p:spPr>
          <a:xfrm>
            <a:off x="830620" y="4135144"/>
            <a:ext cx="3379348" cy="187744"/>
          </a:xfrm>
          <a:prstGeom prst="rect">
            <a:avLst/>
          </a:prstGeom>
          <a:solidFill>
            <a:srgbClr val="D6B1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0B82A3-630A-9505-CCD9-93CB67449580}"/>
              </a:ext>
            </a:extLst>
          </p:cNvPr>
          <p:cNvSpPr/>
          <p:nvPr/>
        </p:nvSpPr>
        <p:spPr>
          <a:xfrm>
            <a:off x="4572381" y="4135144"/>
            <a:ext cx="3379348" cy="18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28569F-31E6-BD90-689F-865FDF9EFBF5}"/>
              </a:ext>
            </a:extLst>
          </p:cNvPr>
          <p:cNvSpPr/>
          <p:nvPr/>
        </p:nvSpPr>
        <p:spPr>
          <a:xfrm>
            <a:off x="8245903" y="4135143"/>
            <a:ext cx="3379348" cy="1877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18A8CA-FD35-F4E7-03B8-7AF1B2BDE7FA}"/>
              </a:ext>
            </a:extLst>
          </p:cNvPr>
          <p:cNvSpPr txBox="1"/>
          <p:nvPr/>
        </p:nvSpPr>
        <p:spPr>
          <a:xfrm>
            <a:off x="4892930" y="2389631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2. Validate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D1E4E0-C82D-C397-FD6C-C6F958576DAA}"/>
              </a:ext>
            </a:extLst>
          </p:cNvPr>
          <p:cNvSpPr txBox="1"/>
          <p:nvPr/>
        </p:nvSpPr>
        <p:spPr>
          <a:xfrm>
            <a:off x="4893009" y="2691217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Clean duplicate preference records and validate primary-key/foreign-key relationships.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EC30AA-701A-CF43-55D5-5CD2345A0892}"/>
              </a:ext>
            </a:extLst>
          </p:cNvPr>
          <p:cNvSpPr txBox="1"/>
          <p:nvPr/>
        </p:nvSpPr>
        <p:spPr>
          <a:xfrm>
            <a:off x="8556654" y="2395261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3. Analyze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E26733-360E-EF65-6C92-FD48CBA9660C}"/>
              </a:ext>
            </a:extLst>
          </p:cNvPr>
          <p:cNvSpPr txBox="1"/>
          <p:nvPr/>
        </p:nvSpPr>
        <p:spPr>
          <a:xfrm>
            <a:off x="8556765" y="2696865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Use SQL filtering, joins, aggregation and subqueries to answer analytical questions.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F13DAC-2EE8-6A97-BD6C-346F7FC107DD}"/>
              </a:ext>
            </a:extLst>
          </p:cNvPr>
          <p:cNvSpPr txBox="1"/>
          <p:nvPr/>
        </p:nvSpPr>
        <p:spPr>
          <a:xfrm>
            <a:off x="990274" y="4494599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4. Go advanced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E88B88-9916-0888-19BA-B4DBA2EC454C}"/>
              </a:ext>
            </a:extLst>
          </p:cNvPr>
          <p:cNvSpPr txBox="1"/>
          <p:nvPr/>
        </p:nvSpPr>
        <p:spPr>
          <a:xfrm>
            <a:off x="4892961" y="4488936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5. Reuse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9914FB-2FA7-ABDA-5020-9CAFB67B62E3}"/>
              </a:ext>
            </a:extLst>
          </p:cNvPr>
          <p:cNvSpPr txBox="1"/>
          <p:nvPr/>
        </p:nvSpPr>
        <p:spPr>
          <a:xfrm>
            <a:off x="8562843" y="4483274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6. Interpret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B7AF36-F0E7-B0D7-5170-9FA47A5C0604}"/>
              </a:ext>
            </a:extLst>
          </p:cNvPr>
          <p:cNvSpPr txBox="1"/>
          <p:nvPr/>
        </p:nvSpPr>
        <p:spPr>
          <a:xfrm>
            <a:off x="990401" y="4796218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Apply CTEs, derived tables and window functions for ranking and row-level comparisons.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CB5DCD-6773-A5B2-6EBE-0C5DD43D5876}"/>
              </a:ext>
            </a:extLst>
          </p:cNvPr>
          <p:cNvSpPr txBox="1"/>
          <p:nvPr/>
        </p:nvSpPr>
        <p:spPr>
          <a:xfrm>
            <a:off x="4881588" y="4796218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Create Views and stored procedures for repeatable analytical logic.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920F29-C078-C4E2-C5BF-E800635906A5}"/>
              </a:ext>
            </a:extLst>
          </p:cNvPr>
          <p:cNvSpPr txBox="1"/>
          <p:nvPr/>
        </p:nvSpPr>
        <p:spPr>
          <a:xfrm>
            <a:off x="8568171" y="4727900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Translate query results into careful, data supported observations without overclaiming causation.</a:t>
            </a:r>
          </a:p>
        </p:txBody>
      </p:sp>
    </p:spTree>
    <p:extLst>
      <p:ext uri="{BB962C8B-B14F-4D97-AF65-F5344CB8AC3E}">
        <p14:creationId xmlns:p14="http://schemas.microsoft.com/office/powerpoint/2010/main" val="17175468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340C2DF4-5574-D0B2-B617-35968DA6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C68BC-87FC-E232-D435-F1EFBA1F23CA}"/>
              </a:ext>
            </a:extLst>
          </p:cNvPr>
          <p:cNvSpPr txBox="1"/>
          <p:nvPr/>
        </p:nvSpPr>
        <p:spPr>
          <a:xfrm>
            <a:off x="4722301" y="48397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latin typeface="Bookman Old Style"/>
              </a:rPr>
              <a:t>Tables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13B7F-082D-4FFE-3B4B-5147444BC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63" y="2336228"/>
            <a:ext cx="11737075" cy="3175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6EF644-F03F-C0CE-FE4A-539D3C98F127}"/>
              </a:ext>
            </a:extLst>
          </p:cNvPr>
          <p:cNvSpPr txBox="1"/>
          <p:nvPr/>
        </p:nvSpPr>
        <p:spPr>
          <a:xfrm>
            <a:off x="4846864" y="171807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Libre Baskerville"/>
              </a:rPr>
              <a:t>Consumers Table</a:t>
            </a:r>
          </a:p>
        </p:txBody>
      </p:sp>
    </p:spTree>
    <p:extLst>
      <p:ext uri="{BB962C8B-B14F-4D97-AF65-F5344CB8AC3E}">
        <p14:creationId xmlns:p14="http://schemas.microsoft.com/office/powerpoint/2010/main" val="4160652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E7FB52B-793F-1903-BD15-EE79A458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34FE25-348B-CBFB-65A7-E412D96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62" y="2086286"/>
            <a:ext cx="7506267" cy="3686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8678D2-1E28-E87D-223F-F229F758DDF2}"/>
              </a:ext>
            </a:extLst>
          </p:cNvPr>
          <p:cNvSpPr txBox="1"/>
          <p:nvPr/>
        </p:nvSpPr>
        <p:spPr>
          <a:xfrm>
            <a:off x="3076918" y="15298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Libre Baskerville"/>
              </a:rPr>
              <a:t>Restaurants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843B1-EEF3-692F-F437-9A89EBA81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1103" y="2083985"/>
            <a:ext cx="2838450" cy="3690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D693BA-C309-4D1F-3DB0-755637F454B1}"/>
              </a:ext>
            </a:extLst>
          </p:cNvPr>
          <p:cNvSpPr txBox="1"/>
          <p:nvPr/>
        </p:nvSpPr>
        <p:spPr>
          <a:xfrm>
            <a:off x="8197631" y="1526309"/>
            <a:ext cx="39942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Libre Baskerville"/>
              </a:rPr>
              <a:t>Consumer Preferences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8A4AF-8E03-11FC-ABDC-4F8B7B8915E0}"/>
              </a:ext>
            </a:extLst>
          </p:cNvPr>
          <p:cNvSpPr txBox="1"/>
          <p:nvPr/>
        </p:nvSpPr>
        <p:spPr>
          <a:xfrm>
            <a:off x="4728402" y="2290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latin typeface="Bookman Old Style"/>
              </a:rPr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910282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38819964-70E4-7DB1-D172-F20A64AC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76E8A-C19E-0FA7-6D56-B91C580F10B9}"/>
              </a:ext>
            </a:extLst>
          </p:cNvPr>
          <p:cNvSpPr txBox="1"/>
          <p:nvPr/>
        </p:nvSpPr>
        <p:spPr>
          <a:xfrm>
            <a:off x="4726532" y="42719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latin typeface="Bookman Old Style"/>
              </a:rPr>
              <a:t>Tables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4E99B-EFA1-F929-6F8A-EB9633FA0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5" y="1724342"/>
            <a:ext cx="3343910" cy="4333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C91214-C6D9-23EB-8CBB-C797815B4344}"/>
              </a:ext>
            </a:extLst>
          </p:cNvPr>
          <p:cNvSpPr txBox="1"/>
          <p:nvPr/>
        </p:nvSpPr>
        <p:spPr>
          <a:xfrm>
            <a:off x="1097170" y="1335406"/>
            <a:ext cx="36271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Libre Baskerville"/>
              </a:rPr>
              <a:t>Restaurants cuisines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6474E-3D10-ECE1-BB70-934EA715C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458" y="1727609"/>
            <a:ext cx="6143625" cy="354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34DDF-C5E6-A0CA-3B77-0DF3CC07A19F}"/>
              </a:ext>
            </a:extLst>
          </p:cNvPr>
          <p:cNvSpPr txBox="1"/>
          <p:nvPr/>
        </p:nvSpPr>
        <p:spPr>
          <a:xfrm>
            <a:off x="7028087" y="13359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Libre Baskerville"/>
              </a:rPr>
              <a:t>Ratings Table</a:t>
            </a:r>
          </a:p>
        </p:txBody>
      </p:sp>
    </p:spTree>
    <p:extLst>
      <p:ext uri="{BB962C8B-B14F-4D97-AF65-F5344CB8AC3E}">
        <p14:creationId xmlns:p14="http://schemas.microsoft.com/office/powerpoint/2010/main" val="39508795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50F10DC6-42EA-A15C-945B-90147486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F155D-0ECE-B76D-8A4F-D4341E7C5ADF}"/>
              </a:ext>
            </a:extLst>
          </p:cNvPr>
          <p:cNvSpPr txBox="1"/>
          <p:nvPr/>
        </p:nvSpPr>
        <p:spPr>
          <a:xfrm>
            <a:off x="4441113" y="160819"/>
            <a:ext cx="330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Bookman Old Style"/>
              </a:rPr>
              <a:t>ER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52007-169F-E80C-617E-2E2E8A0C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30" y="805180"/>
            <a:ext cx="6408420" cy="590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799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916E5-1FF7-4F3F-0018-A148EB8369E7}"/>
              </a:ext>
            </a:extLst>
          </p:cNvPr>
          <p:cNvSpPr txBox="1"/>
          <p:nvPr/>
        </p:nvSpPr>
        <p:spPr>
          <a:xfrm>
            <a:off x="3884604" y="649779"/>
            <a:ext cx="44196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Libre Baskerville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B553F-971A-35C1-E02F-A1262B56006D}"/>
              </a:ext>
            </a:extLst>
          </p:cNvPr>
          <p:cNvSpPr txBox="1"/>
          <p:nvPr/>
        </p:nvSpPr>
        <p:spPr>
          <a:xfrm>
            <a:off x="777341" y="1523051"/>
            <a:ext cx="1063752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Restaurant and consumer information is distributed across multiple related datasets covering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consumers, preferences, restaurants, cuisines, and ratings</a:t>
            </a:r>
            <a:r>
              <a:rPr lang="en-US" sz="2000" dirty="0">
                <a:latin typeface="Calibri"/>
                <a:ea typeface="Calibri"/>
                <a:cs typeface="Calibri"/>
              </a:rPr>
              <a:t>. </a:t>
            </a:r>
          </a:p>
          <a:p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Analyzing these datasets independently makes it difficult to connect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consumer characteristics, cuisine preferences, restaurant attributes, locations, and rating behavior</a:t>
            </a:r>
            <a:r>
              <a:rPr lang="en-US" sz="2000" dirty="0">
                <a:latin typeface="Calibri"/>
                <a:ea typeface="Calibri"/>
                <a:cs typeface="Calibri"/>
              </a:rPr>
              <a:t>. </a:t>
            </a:r>
          </a:p>
          <a:p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A structured relational database is required to maintain relationships between consumers and restaurants and support reliable analysis. </a:t>
            </a:r>
          </a:p>
          <a:p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The project uses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MySQL and SQL</a:t>
            </a:r>
            <a:r>
              <a:rPr lang="en-US" sz="2000" dirty="0">
                <a:latin typeface="Calibri"/>
                <a:ea typeface="Calibri"/>
                <a:cs typeface="Calibri"/>
              </a:rPr>
              <a:t> to integrate, filter, aggregate, compare, and rank the data. </a:t>
            </a:r>
          </a:p>
          <a:p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The analysis produces data-supported insights into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consumer behavior, restaurant characteristics, cuisine preferences, and rating patterns</a:t>
            </a:r>
            <a:r>
              <a:rPr lang="en-US" sz="2000" dirty="0">
                <a:latin typeface="Calibri"/>
                <a:ea typeface="Calibri"/>
                <a:cs typeface="Calibri"/>
              </a:rPr>
              <a:t>.</a:t>
            </a:r>
          </a:p>
          <a:p>
            <a:pPr marL="285750" indent="-285750" algn="l"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D7DDE58-4EF5-BC5D-65C4-1DBDBE46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2AECF-C52A-E37D-3E46-16370D2E5C4D}"/>
              </a:ext>
            </a:extLst>
          </p:cNvPr>
          <p:cNvSpPr txBox="1"/>
          <p:nvPr/>
        </p:nvSpPr>
        <p:spPr>
          <a:xfrm>
            <a:off x="1595721" y="456270"/>
            <a:ext cx="90017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Libre Baskerville"/>
              </a:rPr>
              <a:t>List all details of consumers who live in the city of 'Cuernavaca'.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F2FA4-2DCE-0F29-88AC-52FDD59D7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930" y="1363980"/>
            <a:ext cx="285750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3A848B-D203-880A-DB09-0700F15A9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33" y="2817383"/>
            <a:ext cx="11355917" cy="270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645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2564E99-C007-093C-3569-424511DA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6D665-1720-6BF6-C612-C1183073945D}"/>
              </a:ext>
            </a:extLst>
          </p:cNvPr>
          <p:cNvSpPr txBox="1"/>
          <p:nvPr/>
        </p:nvSpPr>
        <p:spPr>
          <a:xfrm>
            <a:off x="2013220" y="400331"/>
            <a:ext cx="81686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2. Find the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Age, and Occupation of all consumers who are 'Students' AND are 'Smokers'.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66955F-599C-BCEA-460C-22A61562C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88" y="1490345"/>
            <a:ext cx="5229225" cy="971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E2FB45-9ABB-2B1A-9C8A-D2C7E45C2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093" y="2626678"/>
            <a:ext cx="31527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770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9E74DAAA-6741-0D90-46DB-0926C4CC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934D93-FE3C-89BC-D931-1A2E5BEA1957}"/>
              </a:ext>
            </a:extLst>
          </p:cNvPr>
          <p:cNvSpPr txBox="1"/>
          <p:nvPr/>
        </p:nvSpPr>
        <p:spPr>
          <a:xfrm>
            <a:off x="1381778" y="448561"/>
            <a:ext cx="94284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3. List the Name, City, </a:t>
            </a:r>
            <a:r>
              <a:rPr lang="en-US" sz="2000" dirty="0" err="1">
                <a:latin typeface="Libre Baskerville"/>
              </a:rPr>
              <a:t>Alcohol_Service</a:t>
            </a:r>
            <a:r>
              <a:rPr lang="en-US" sz="2000" dirty="0">
                <a:latin typeface="Libre Baskerville"/>
              </a:rPr>
              <a:t>, and Price of all restaurants that serve 'Wine &amp; Beer' and have a 'Medium' price level.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24A28-BC4D-8FEA-1AA4-DADE57B6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60" y="1487487"/>
            <a:ext cx="4267200" cy="1343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FE4F5-E083-F222-9152-8989BEB00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65" y="3016250"/>
            <a:ext cx="61531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303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A69B6FF2-7FD8-7432-056B-3CD88EAD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629CB-87AB-06DB-BC9A-7A99479F263D}"/>
              </a:ext>
            </a:extLst>
          </p:cNvPr>
          <p:cNvSpPr txBox="1"/>
          <p:nvPr/>
        </p:nvSpPr>
        <p:spPr>
          <a:xfrm>
            <a:off x="1170878" y="736896"/>
            <a:ext cx="985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4. Find the names and cities of all restaurants that are part of a 'Franchise'.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521043-C3BF-E7BE-FD4F-4CA5A0F62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397" y="2433002"/>
            <a:ext cx="3707765" cy="1991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1E1A9-61F0-E593-98C3-7F3EDC9C4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402" y="1662748"/>
            <a:ext cx="33432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46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6CA78A4E-6615-2593-2A78-5B526114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5410E0-2A7D-D2C2-F184-99AE3843C567}"/>
              </a:ext>
            </a:extLst>
          </p:cNvPr>
          <p:cNvSpPr txBox="1"/>
          <p:nvPr/>
        </p:nvSpPr>
        <p:spPr>
          <a:xfrm>
            <a:off x="626211" y="381177"/>
            <a:ext cx="109423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5. Show the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</a:t>
            </a:r>
            <a:r>
              <a:rPr lang="en-US" sz="2000" dirty="0" err="1">
                <a:latin typeface="Libre Baskerville"/>
              </a:rPr>
              <a:t>Restaurant_ID</a:t>
            </a:r>
            <a:r>
              <a:rPr lang="en-US" sz="2000" dirty="0">
                <a:latin typeface="Libre Baskerville"/>
              </a:rPr>
              <a:t>, and Overall_Rating for all ratings where the Overall_Rating was 'Highly Satisfactory' (which corresponds to a value of 2, according to the data dictionary).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9C6CD-6B4E-4AB0-1F42-F2E8074B0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67" y="1833245"/>
            <a:ext cx="5000625" cy="895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B2453F-A8C4-B62E-0B01-43BD6C155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" y="3138170"/>
            <a:ext cx="41719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89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1517C821-727D-A9C7-4C93-7C42BE4C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5199C-C339-B02D-C9B2-A494E9A6681E}"/>
              </a:ext>
            </a:extLst>
          </p:cNvPr>
          <p:cNvSpPr txBox="1"/>
          <p:nvPr/>
        </p:nvSpPr>
        <p:spPr>
          <a:xfrm>
            <a:off x="894918" y="999771"/>
            <a:ext cx="104038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6. List the names and cities of all restaurants that have an Overall_Rating of 2 (Highly Satisfactory) from at least one consumer.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E492C-E742-D867-7EDB-DF2792436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628900"/>
            <a:ext cx="3995420" cy="210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31FA34-1062-8EE5-0BE1-43798E025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165" y="2229168"/>
            <a:ext cx="31813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829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246D01FD-FAD7-A1F3-A713-47D0DB85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B3362-8208-C4FA-8578-ACF6389C6A59}"/>
              </a:ext>
            </a:extLst>
          </p:cNvPr>
          <p:cNvSpPr txBox="1"/>
          <p:nvPr/>
        </p:nvSpPr>
        <p:spPr>
          <a:xfrm>
            <a:off x="880320" y="525987"/>
            <a:ext cx="1042416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7.Find the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 and Age of consumers who have rated restaurants located in 'San Luis Potosi'.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D25F9-4179-8022-5AB6-21DD1529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970" y="2602230"/>
            <a:ext cx="3924300" cy="232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9507C-DB6C-781C-F4A1-810F49D8F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485" y="1458278"/>
            <a:ext cx="3262630" cy="46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74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7D3CE6DB-7F18-6749-B511-CF3DCDD0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F1CFA-881E-14BF-8158-4C691C67CB5B}"/>
              </a:ext>
            </a:extLst>
          </p:cNvPr>
          <p:cNvSpPr txBox="1"/>
          <p:nvPr/>
        </p:nvSpPr>
        <p:spPr>
          <a:xfrm>
            <a:off x="506852" y="1000473"/>
            <a:ext cx="1117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8. List the names of restaurants that serve 'Mexican' cuisine and have been rated by consumer 'U1001'.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AA5E5-6158-EBCF-8FAA-0F1B931C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82" y="2328228"/>
            <a:ext cx="4623435" cy="3471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11BD57-A0F6-4321-5021-317A4CB6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122" y="2414270"/>
            <a:ext cx="2906395" cy="202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649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EA7A37C2-A387-64E1-D4CE-4E8CFD14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28F0D-7516-B053-6580-B01B73A8D4D2}"/>
              </a:ext>
            </a:extLst>
          </p:cNvPr>
          <p:cNvSpPr txBox="1"/>
          <p:nvPr/>
        </p:nvSpPr>
        <p:spPr>
          <a:xfrm>
            <a:off x="482686" y="745771"/>
            <a:ext cx="112166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9. Find all details of consumers who prefer 'American' cuisine AND have a 'Medium' budget.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45A1E-A5CA-E5C2-4E4D-B0C65E5BA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" y="1709738"/>
            <a:ext cx="4000500" cy="1914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7D92EC-59C7-737D-671F-BFFA11294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" y="4012059"/>
            <a:ext cx="11003280" cy="215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82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13BB4C04-BA31-3215-CE28-53D16B8A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326D9-F7C1-9B2F-07CD-7696DD1B1B45}"/>
              </a:ext>
            </a:extLst>
          </p:cNvPr>
          <p:cNvSpPr txBox="1"/>
          <p:nvPr/>
        </p:nvSpPr>
        <p:spPr>
          <a:xfrm>
            <a:off x="753498" y="688547"/>
            <a:ext cx="106883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10.List restaurants (Name, City) that have received a </a:t>
            </a:r>
            <a:r>
              <a:rPr lang="en-US" sz="2000" dirty="0" err="1">
                <a:latin typeface="Libre Baskerville"/>
              </a:rPr>
              <a:t>Food_Rating</a:t>
            </a:r>
            <a:r>
              <a:rPr lang="en-US" sz="2000" dirty="0">
                <a:latin typeface="Libre Baskerville"/>
              </a:rPr>
              <a:t> lower than the average </a:t>
            </a:r>
            <a:r>
              <a:rPr lang="en-US" sz="2000" dirty="0" err="1">
                <a:latin typeface="Libre Baskerville"/>
              </a:rPr>
              <a:t>Food_Rating</a:t>
            </a:r>
            <a:r>
              <a:rPr lang="en-US" sz="2000" dirty="0">
                <a:latin typeface="Libre Baskerville"/>
              </a:rPr>
              <a:t> across all rated restaurants.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47D06-3DD7-2CAE-63E5-A0408ABCD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485" y="2444115"/>
            <a:ext cx="3943350" cy="2457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A0092-C350-59BE-7FC8-CB5F28672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767" y="1933892"/>
            <a:ext cx="3781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512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4F03368B-16F6-BCCE-3555-4D9635DB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C6439B-CDD3-29D7-B450-300092CE72E2}"/>
              </a:ext>
            </a:extLst>
          </p:cNvPr>
          <p:cNvSpPr txBox="1"/>
          <p:nvPr/>
        </p:nvSpPr>
        <p:spPr>
          <a:xfrm>
            <a:off x="712393" y="544439"/>
            <a:ext cx="107696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11. Find consumers (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Age, Occupation) who have rated at least one restaurant but have NOT rated any restaurant that serves 'Italian' cuisine.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E0CD8-5D78-8B79-A334-1D6FABCD0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565275"/>
            <a:ext cx="4724400" cy="4743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23E99B-3C06-A34C-74AC-01C503FA9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60" y="1648778"/>
            <a:ext cx="4013200" cy="457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897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64BB3154-7061-3614-D5CC-2110F851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166ADA-3412-4EE5-6CBB-D605E41349EF}"/>
              </a:ext>
            </a:extLst>
          </p:cNvPr>
          <p:cNvSpPr txBox="1"/>
          <p:nvPr/>
        </p:nvSpPr>
        <p:spPr>
          <a:xfrm>
            <a:off x="508956" y="554717"/>
            <a:ext cx="1117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12. List restaurants (Name) that have received ratings from consumers older than 30.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BC5FC-5CF7-4842-6CB6-958A6404B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90" y="1910398"/>
            <a:ext cx="4564380" cy="3362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701494-3352-1F2C-A125-37FAFFFF2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777" y="1453832"/>
            <a:ext cx="2971165" cy="427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973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CF4AACB8-792A-9D38-8B26-1BEEF462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A173D-AF9B-2EF4-2760-66C39D865B66}"/>
              </a:ext>
            </a:extLst>
          </p:cNvPr>
          <p:cNvSpPr txBox="1"/>
          <p:nvPr/>
        </p:nvSpPr>
        <p:spPr>
          <a:xfrm>
            <a:off x="515380" y="317648"/>
            <a:ext cx="111658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13. Find the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 and Occupation of consumers whose preferred cuisine is 'Mexican' and who have given an Overall_Rating of 0 to at least one restaurant (any restaurant).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00EC7-6201-BC9C-E295-C859BBBE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80" y="1877060"/>
            <a:ext cx="4780280" cy="3114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6BDB26-1CB1-5A42-EAD2-F67762704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965" y="1335723"/>
            <a:ext cx="3740150" cy="43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093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6DA067D8-A68C-612B-20B9-41AA3003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397677-734B-A7A7-8C5D-502982EBED2A}"/>
              </a:ext>
            </a:extLst>
          </p:cNvPr>
          <p:cNvSpPr txBox="1"/>
          <p:nvPr/>
        </p:nvSpPr>
        <p:spPr>
          <a:xfrm>
            <a:off x="946657" y="586482"/>
            <a:ext cx="103022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14. List the names and cities of restaurants that serve 'Pizzeria' cuisine and are located in a city where at least one 'Student' consumer lives.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3D2B1-D695-C124-8979-6BA6757C5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85" y="2212022"/>
            <a:ext cx="4324350" cy="3267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335CA6-A0C2-EE6E-ADF5-587F0DE71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102" y="2384108"/>
            <a:ext cx="4506595" cy="256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553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AD3BDE17-B2B7-349B-DEEF-FC3EFD57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72887-DC38-80B9-5270-31C2343A0273}"/>
              </a:ext>
            </a:extLst>
          </p:cNvPr>
          <p:cNvSpPr txBox="1"/>
          <p:nvPr/>
        </p:nvSpPr>
        <p:spPr>
          <a:xfrm>
            <a:off x="2827067" y="87353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7CAA6-A436-0329-176C-0BE5957AE679}"/>
              </a:ext>
            </a:extLst>
          </p:cNvPr>
          <p:cNvSpPr txBox="1"/>
          <p:nvPr/>
        </p:nvSpPr>
        <p:spPr>
          <a:xfrm>
            <a:off x="475324" y="519217"/>
            <a:ext cx="11247120" cy="718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15. Find consumers (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Age) who are 'Social Drinkers' and have rated a restaurant that has 'No' parking.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4EC5F-74D6-0C1A-6AA6-D0BB2A89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17" y="2245043"/>
            <a:ext cx="4388485" cy="3241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2DAB73-E99C-D984-6974-1C7A2E89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880" y="1711643"/>
            <a:ext cx="2814320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214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401FFFA-E183-5CF8-C9A6-96E211C3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4CC77-BF75-709A-6B1B-41130D8D6377}"/>
              </a:ext>
            </a:extLst>
          </p:cNvPr>
          <p:cNvSpPr txBox="1"/>
          <p:nvPr/>
        </p:nvSpPr>
        <p:spPr>
          <a:xfrm>
            <a:off x="837812" y="540703"/>
            <a:ext cx="10515600" cy="10258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16. List </a:t>
            </a:r>
            <a:r>
              <a:rPr lang="en-US" sz="2000" dirty="0" err="1">
                <a:latin typeface="Libre Baskerville"/>
              </a:rPr>
              <a:t>Consumer_IDs</a:t>
            </a:r>
            <a:r>
              <a:rPr lang="en-US" sz="2000" dirty="0">
                <a:latin typeface="Libre Baskerville"/>
              </a:rPr>
              <a:t> and the count of restaurants they've rated, but only for consumers who are 'Students'. Show only students who have rated more than 2 restaurants.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12D5F-CF07-4C24-1DA9-CED432691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85" y="2638425"/>
            <a:ext cx="569595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CBB21-794F-0831-AC23-379F1290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542" y="1713865"/>
            <a:ext cx="3195955" cy="407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346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5A7F7AE-2B41-0052-5616-9AE83874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480656-7CB6-4884-BF03-9D3819CAA55C}"/>
              </a:ext>
            </a:extLst>
          </p:cNvPr>
          <p:cNvSpPr txBox="1"/>
          <p:nvPr/>
        </p:nvSpPr>
        <p:spPr>
          <a:xfrm>
            <a:off x="243047" y="524119"/>
            <a:ext cx="117043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17. We want to categorize consumers by an '</a:t>
            </a:r>
            <a:r>
              <a:rPr lang="en-US" sz="1800" dirty="0" err="1">
                <a:latin typeface="Libre Baskerville"/>
              </a:rPr>
              <a:t>Engagement_Score</a:t>
            </a:r>
            <a:r>
              <a:rPr lang="en-US" sz="1800" dirty="0">
                <a:latin typeface="Libre Baskerville"/>
              </a:rPr>
              <a:t>' which is their Age divided by 10 (integer division). List the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Age, and this calculated </a:t>
            </a:r>
            <a:r>
              <a:rPr lang="en-US" sz="1800" dirty="0" err="1">
                <a:latin typeface="Libre Baskerville"/>
              </a:rPr>
              <a:t>Engagement_Score</a:t>
            </a:r>
            <a:r>
              <a:rPr lang="en-US" sz="1800" dirty="0">
                <a:latin typeface="Libre Baskerville"/>
              </a:rPr>
              <a:t>, but only for consumers whose </a:t>
            </a:r>
            <a:r>
              <a:rPr lang="en-US" sz="1800" dirty="0" err="1">
                <a:latin typeface="Libre Baskerville"/>
              </a:rPr>
              <a:t>Engagement_Score</a:t>
            </a:r>
            <a:r>
              <a:rPr lang="en-US" sz="1800" dirty="0">
                <a:latin typeface="Libre Baskerville"/>
              </a:rPr>
              <a:t> would be exactly 2 and who use 'Public' transportation.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ECCE0-2BA2-78FE-3D0B-EBE2A4C8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032" y="2675573"/>
            <a:ext cx="4204335" cy="2563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447A81-14F0-DFA5-B90B-8C28BB39C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622" y="1719898"/>
            <a:ext cx="4201795" cy="421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10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5D3AC0A7-EED0-7060-86F3-55A42F22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21548-E2CD-F920-F947-E9FE6D127359}"/>
              </a:ext>
            </a:extLst>
          </p:cNvPr>
          <p:cNvSpPr txBox="1"/>
          <p:nvPr/>
        </p:nvSpPr>
        <p:spPr>
          <a:xfrm>
            <a:off x="465984" y="526807"/>
            <a:ext cx="112674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18. For each restaurant, calculate its average Overall_Rating. Then, list the restaurant Name, City, and its calculated average Overall_Rating, but only for restaurants located in 'Cuernavaca' AND whose calculated average Overall_Rating is greater than 1.0.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29867-E921-21A5-BE47-183BD7B34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967" y="2241232"/>
            <a:ext cx="5153025" cy="3228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4C5D63-5023-D4BA-2F4E-D2DF40F17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73" y="2554923"/>
            <a:ext cx="49815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118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0541AD0C-F19E-9B4D-E806-C4268D67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138C6-1D39-0580-8A44-03BDB5B5CDCF}"/>
              </a:ext>
            </a:extLst>
          </p:cNvPr>
          <p:cNvSpPr txBox="1"/>
          <p:nvPr/>
        </p:nvSpPr>
        <p:spPr>
          <a:xfrm>
            <a:off x="259276" y="479624"/>
            <a:ext cx="116738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19. Find consumers (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Age) who are 'Married' and whose </a:t>
            </a:r>
            <a:r>
              <a:rPr lang="en-US" sz="2000" dirty="0" err="1">
                <a:latin typeface="Libre Baskerville"/>
              </a:rPr>
              <a:t>Food_Rating</a:t>
            </a:r>
            <a:r>
              <a:rPr lang="en-US" sz="2000" dirty="0">
                <a:latin typeface="Libre Baskerville"/>
              </a:rPr>
              <a:t> for any restaurant is equal to their </a:t>
            </a:r>
            <a:r>
              <a:rPr lang="en-US" sz="2000" dirty="0" err="1">
                <a:latin typeface="Libre Baskerville"/>
              </a:rPr>
              <a:t>Service_Rating</a:t>
            </a:r>
            <a:r>
              <a:rPr lang="en-US" sz="2000" dirty="0">
                <a:latin typeface="Libre Baskerville"/>
              </a:rPr>
              <a:t> for that same restaurant, but only consider ratings where the Overall_Rating was 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C0E02D-0A75-E349-A1E5-CEC69EE83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807" y="2927668"/>
            <a:ext cx="4086225" cy="2181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9C56AF-9BA6-95DD-D640-BD0315B3F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595" y="2044700"/>
            <a:ext cx="374777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921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D7981A5-7713-9273-1D0B-7567C339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DED47-4BCF-24B2-8063-AD19F4B7EF31}"/>
              </a:ext>
            </a:extLst>
          </p:cNvPr>
          <p:cNvSpPr txBox="1"/>
          <p:nvPr/>
        </p:nvSpPr>
        <p:spPr>
          <a:xfrm>
            <a:off x="157913" y="434784"/>
            <a:ext cx="118668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20. List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Age, and the Name of any restaurant they rated, but only for consumers who are 'Employed' and have given a </a:t>
            </a:r>
            <a:r>
              <a:rPr lang="en-US" sz="1800" dirty="0" err="1">
                <a:latin typeface="Libre Baskerville"/>
              </a:rPr>
              <a:t>Food_Rating</a:t>
            </a:r>
            <a:r>
              <a:rPr lang="en-US" sz="1800" dirty="0">
                <a:latin typeface="Libre Baskerville"/>
              </a:rPr>
              <a:t> of 0 to at least one restaurant located in 'Ciudad Victoria'.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32258-A654-F6D6-0234-52F7635E7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" y="1531303"/>
            <a:ext cx="5114925" cy="5095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4B2E62-DB52-16CF-F630-7489FF2AB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942" y="2106295"/>
            <a:ext cx="4730115" cy="39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757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B304FB01-D0CF-1ECF-2745-C1F82194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01410-1D2A-FCEC-9320-829B115A8BD9}"/>
              </a:ext>
            </a:extLst>
          </p:cNvPr>
          <p:cNvSpPr txBox="1"/>
          <p:nvPr/>
        </p:nvSpPr>
        <p:spPr>
          <a:xfrm>
            <a:off x="352465" y="384102"/>
            <a:ext cx="114808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21. Using a CTE, find all consumers who live in 'San Luis Potosi'. Then, list their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Age, and the Name of any Mexican restaurant they have rated with an Overall_Rating of 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1FAB8-7D88-381B-2CA6-E64C8F41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280" y="1201738"/>
            <a:ext cx="4267200" cy="5267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59E7D1-3C05-D32B-A04B-55EBEEC29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957" y="1451610"/>
            <a:ext cx="4083685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762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54EBEDFE-0130-2143-D36D-B9BFE272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3C98C-1116-8C90-421E-C495D30889A6}"/>
              </a:ext>
            </a:extLst>
          </p:cNvPr>
          <p:cNvSpPr txBox="1"/>
          <p:nvPr/>
        </p:nvSpPr>
        <p:spPr>
          <a:xfrm>
            <a:off x="446247" y="488153"/>
            <a:ext cx="1130808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22. For each Occupation, find the average age of consumers. Only consider consumers who have made at least one rating. (Use a derived table to get consumers who have rated).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F48F2-69A4-CA20-2416-24DFF0C1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922" y="2272982"/>
            <a:ext cx="5172075" cy="3267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4BD1AD-AEE6-7BAE-1FE9-52A8E8DC8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317" y="2746693"/>
            <a:ext cx="3057525" cy="23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940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4814C33-1F19-C7E0-44D5-5EFC8162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089E5-6162-8D12-0295-B03A4356B120}"/>
              </a:ext>
            </a:extLst>
          </p:cNvPr>
          <p:cNvSpPr txBox="1"/>
          <p:nvPr/>
        </p:nvSpPr>
        <p:spPr>
          <a:xfrm>
            <a:off x="510013" y="497147"/>
            <a:ext cx="1117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23. Using a CTE to get all ratings for restaurants in 'Cuernavaca', rank these ratings within each restaurant based on Overall_Rating (highest first). Display </a:t>
            </a:r>
            <a:r>
              <a:rPr lang="en-US" sz="1800" dirty="0" err="1">
                <a:latin typeface="Libre Baskerville"/>
              </a:rPr>
              <a:t>Restaurant_ID</a:t>
            </a:r>
            <a:r>
              <a:rPr lang="en-US" sz="1800" dirty="0">
                <a:latin typeface="Libre Baskerville"/>
              </a:rPr>
              <a:t>,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Overall_Rating, and the </a:t>
            </a:r>
            <a:r>
              <a:rPr lang="en-US" sz="1800" dirty="0" err="1">
                <a:latin typeface="Libre Baskerville"/>
              </a:rPr>
              <a:t>RatingRank</a:t>
            </a:r>
            <a:r>
              <a:rPr lang="en-US" sz="1800" dirty="0">
                <a:latin typeface="Libre Baskerville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623D7-69C3-75A3-5D2D-1B72F906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591628"/>
            <a:ext cx="4094480" cy="49142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0F0643-A592-595F-2480-FBB1A96EB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065" y="2142490"/>
            <a:ext cx="46291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104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B845E166-D6C1-6349-82A5-D7C08B09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C3B3F-A8EB-0595-3C2A-576779193FD9}"/>
              </a:ext>
            </a:extLst>
          </p:cNvPr>
          <p:cNvSpPr txBox="1"/>
          <p:nvPr/>
        </p:nvSpPr>
        <p:spPr>
          <a:xfrm>
            <a:off x="411329" y="444707"/>
            <a:ext cx="1146048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24. For each rating, show the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, </a:t>
            </a:r>
            <a:r>
              <a:rPr lang="en-US" sz="2000" dirty="0" err="1">
                <a:latin typeface="Libre Baskerville"/>
              </a:rPr>
              <a:t>Restaurant_ID</a:t>
            </a:r>
            <a:r>
              <a:rPr lang="en-US" sz="2000" dirty="0">
                <a:latin typeface="Libre Baskerville"/>
              </a:rPr>
              <a:t>, Overall_Rating, and also display the average Overall_Rating given by that specific consumer across all their ratings.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D2858A-1A13-FFBB-5631-3796DB2A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52" y="2657475"/>
            <a:ext cx="5057775" cy="1543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4DA121-0F59-6F3D-C056-C1072E1CC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653" y="1830070"/>
            <a:ext cx="58959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579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CE4AA6D3-3566-63B0-44B3-F3790C82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1346B-3C02-038C-D8C0-85A6554352A9}"/>
              </a:ext>
            </a:extLst>
          </p:cNvPr>
          <p:cNvSpPr txBox="1"/>
          <p:nvPr/>
        </p:nvSpPr>
        <p:spPr>
          <a:xfrm>
            <a:off x="212913" y="317766"/>
            <a:ext cx="117652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25. Using a CTE, identify students who have a 'Low' budget. Then, for each of these students, list their top 3 most preferred cuisines based on the order they appear in the </a:t>
            </a:r>
            <a:r>
              <a:rPr lang="en-US" sz="1800" dirty="0" err="1">
                <a:latin typeface="Libre Baskerville"/>
              </a:rPr>
              <a:t>Consumer_Preferences</a:t>
            </a:r>
            <a:r>
              <a:rPr lang="en-US" sz="1800" dirty="0">
                <a:latin typeface="Libre Baskerville"/>
              </a:rPr>
              <a:t> table (assuming no explicit preference order, use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</a:t>
            </a:r>
            <a:r>
              <a:rPr lang="en-US" sz="1800" dirty="0" err="1">
                <a:latin typeface="Libre Baskerville"/>
              </a:rPr>
              <a:t>Preferred_Cuisine</a:t>
            </a:r>
            <a:r>
              <a:rPr lang="en-US" sz="1800" dirty="0">
                <a:latin typeface="Libre Baskerville"/>
              </a:rPr>
              <a:t> to define order for ROW_NUMBER).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47EF7-9521-D6E0-CF03-E26DF026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927" y="1715453"/>
            <a:ext cx="4726305" cy="4646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4510F1-BFCC-FFF7-6211-2B996AEF1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950" y="2309812"/>
            <a:ext cx="40005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411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76FDEAAA-06A8-61C3-6856-96C7B9C9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7094C-D985-4157-8A72-302073CF1353}"/>
              </a:ext>
            </a:extLst>
          </p:cNvPr>
          <p:cNvSpPr txBox="1"/>
          <p:nvPr/>
        </p:nvSpPr>
        <p:spPr>
          <a:xfrm>
            <a:off x="235457" y="336801"/>
            <a:ext cx="117246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26. Consider all ratings made by '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' = 'U1008'. For each rating, show the </a:t>
            </a:r>
            <a:r>
              <a:rPr lang="en-US" sz="1800" dirty="0" err="1">
                <a:latin typeface="Libre Baskerville"/>
              </a:rPr>
              <a:t>Restaurant_ID</a:t>
            </a:r>
            <a:r>
              <a:rPr lang="en-US" sz="1800" dirty="0">
                <a:latin typeface="Libre Baskerville"/>
              </a:rPr>
              <a:t>, Overall_Rating, and the Overall_Rating of the next restaurant they rated (if any), ordered by </a:t>
            </a:r>
            <a:r>
              <a:rPr lang="en-US" sz="1800" dirty="0" err="1">
                <a:latin typeface="Libre Baskerville"/>
              </a:rPr>
              <a:t>Restaurant_ID</a:t>
            </a:r>
            <a:r>
              <a:rPr lang="en-US" sz="1800" dirty="0">
                <a:latin typeface="Libre Baskerville"/>
              </a:rPr>
              <a:t> (as a proxy for time if rating time isn't available). Use a derived table to filter for the consumer's ratings first.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CF5B5-41E9-2076-FC80-7BE564B5B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" y="1843723"/>
            <a:ext cx="3429000" cy="4410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E818FF-D958-324F-0076-57C7C2555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10" y="2739708"/>
            <a:ext cx="42291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793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F4C05554-1FC3-77EC-6E94-5E4C25FB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1D17EE-68C0-DFF0-AA81-B319B0C9A692}"/>
              </a:ext>
            </a:extLst>
          </p:cNvPr>
          <p:cNvSpPr txBox="1"/>
          <p:nvPr/>
        </p:nvSpPr>
        <p:spPr>
          <a:xfrm>
            <a:off x="820417" y="457910"/>
            <a:ext cx="1054608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27. Create a VIEW named </a:t>
            </a:r>
            <a:r>
              <a:rPr lang="en-US" sz="2000" dirty="0" err="1">
                <a:latin typeface="Libre Baskerville"/>
              </a:rPr>
              <a:t>HighlyRatedMexicanRestaurants</a:t>
            </a:r>
            <a:r>
              <a:rPr lang="en-US" sz="2000" dirty="0">
                <a:latin typeface="Libre Baskerville"/>
              </a:rPr>
              <a:t> that shows the </a:t>
            </a:r>
            <a:r>
              <a:rPr lang="en-US" sz="2000" dirty="0" err="1">
                <a:latin typeface="Libre Baskerville"/>
              </a:rPr>
              <a:t>Restaurant_ID</a:t>
            </a:r>
            <a:r>
              <a:rPr lang="en-US" sz="2000" dirty="0">
                <a:latin typeface="Libre Baskerville"/>
              </a:rPr>
              <a:t>, Name, and City of all Mexican restaurants that have an average Overall_Rating greater than 1.5.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79539-30BD-CE5B-4967-41BDE5258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27" y="1995170"/>
            <a:ext cx="4543425" cy="3924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B422EA-45E4-537F-B2AA-B8C60AE4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67" y="2902902"/>
            <a:ext cx="5457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69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6FE9439-6960-34E1-868C-1F2833B5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A94AAC-EF11-420B-67CF-7E0D9ED29EDF}"/>
              </a:ext>
            </a:extLst>
          </p:cNvPr>
          <p:cNvSpPr txBox="1"/>
          <p:nvPr/>
        </p:nvSpPr>
        <p:spPr>
          <a:xfrm>
            <a:off x="320700" y="401151"/>
            <a:ext cx="115519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28. First, ensure the </a:t>
            </a:r>
            <a:r>
              <a:rPr lang="en-US" sz="1800" dirty="0" err="1">
                <a:latin typeface="Libre Baskerville"/>
              </a:rPr>
              <a:t>HighlyRatedMexicanRestaurants</a:t>
            </a:r>
            <a:r>
              <a:rPr lang="en-US" sz="1800" dirty="0">
                <a:latin typeface="Libre Baskerville"/>
              </a:rPr>
              <a:t> view from Q7 exists. Then, using a CTE to find consumers who prefer 'Mexican' cuisine, list those consumers (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) who have not rated any restaurant listed in the </a:t>
            </a:r>
            <a:r>
              <a:rPr lang="en-US" sz="1800" dirty="0" err="1">
                <a:latin typeface="Libre Baskerville"/>
              </a:rPr>
              <a:t>HighlyRatedMexicanRestaurants</a:t>
            </a:r>
            <a:r>
              <a:rPr lang="en-US" sz="1800" dirty="0">
                <a:latin typeface="Libre Baskerville"/>
              </a:rPr>
              <a:t> view.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23BD1-CA2F-8E16-C7A6-30AD0A3F6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72" y="1878648"/>
            <a:ext cx="4752975" cy="4238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736DF2-AABA-41D0-5AAB-57951E5E6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463" y="1874838"/>
            <a:ext cx="1844675" cy="423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97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66B86FEE-52EC-C6D7-8DEE-651C6E22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3FAC3-402D-5C50-D8A0-0760CDAC33BB}"/>
              </a:ext>
            </a:extLst>
          </p:cNvPr>
          <p:cNvSpPr txBox="1"/>
          <p:nvPr/>
        </p:nvSpPr>
        <p:spPr>
          <a:xfrm>
            <a:off x="192247" y="361559"/>
            <a:ext cx="118160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29. Create a stored procedure </a:t>
            </a:r>
            <a:r>
              <a:rPr lang="en-US" sz="1800" dirty="0" err="1">
                <a:latin typeface="Libre Baskerville"/>
              </a:rPr>
              <a:t>GetRestaurantRatingsAboveThreshold</a:t>
            </a:r>
            <a:r>
              <a:rPr lang="en-US" sz="1800" dirty="0">
                <a:latin typeface="Libre Baskerville"/>
              </a:rPr>
              <a:t> that accepts a </a:t>
            </a:r>
            <a:r>
              <a:rPr lang="en-US" sz="1800" dirty="0" err="1">
                <a:latin typeface="Libre Baskerville"/>
              </a:rPr>
              <a:t>Restaurant_ID</a:t>
            </a:r>
            <a:r>
              <a:rPr lang="en-US" sz="1800" dirty="0">
                <a:latin typeface="Libre Baskerville"/>
              </a:rPr>
              <a:t> and a minimum Overall_Rating as input. It should return the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Overall_Rating, </a:t>
            </a:r>
            <a:r>
              <a:rPr lang="en-US" sz="1800" dirty="0" err="1">
                <a:latin typeface="Libre Baskerville"/>
              </a:rPr>
              <a:t>Food_Rating</a:t>
            </a:r>
            <a:r>
              <a:rPr lang="en-US" sz="1800" dirty="0">
                <a:latin typeface="Libre Baskerville"/>
              </a:rPr>
              <a:t>, and </a:t>
            </a:r>
            <a:r>
              <a:rPr lang="en-US" sz="1800" dirty="0" err="1">
                <a:latin typeface="Libre Baskerville"/>
              </a:rPr>
              <a:t>Service_Rating</a:t>
            </a:r>
            <a:r>
              <a:rPr lang="en-US" sz="1800" dirty="0">
                <a:latin typeface="Libre Baskerville"/>
              </a:rPr>
              <a:t> for that restaurant where the Overall_Rating meets or exceeds the threshold.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6F2A0-AD52-DC48-A3CC-50DDD9E6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28" y="1716405"/>
            <a:ext cx="3969385" cy="3770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4419DF-0A7A-C765-8B0B-7B39209D9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237" y="1716405"/>
            <a:ext cx="5343525" cy="2266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CCF09E-2DE0-96EB-186B-299319AE1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555" y="4612322"/>
            <a:ext cx="532257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0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12461667-05AB-CC58-A229-40F25D98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29B79-46C9-5CA7-CEAF-9EF0914FF663}"/>
              </a:ext>
            </a:extLst>
          </p:cNvPr>
          <p:cNvSpPr txBox="1"/>
          <p:nvPr/>
        </p:nvSpPr>
        <p:spPr>
          <a:xfrm>
            <a:off x="359591" y="369149"/>
            <a:ext cx="114706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30. Identify the top 2 highest-rated (by Overall_Rating) restaurants for each cuisine type. If there are ties in rating, include all tied restaurants. Display Cuisine, </a:t>
            </a:r>
            <a:r>
              <a:rPr lang="en-US" sz="2000" dirty="0" err="1">
                <a:latin typeface="Libre Baskerville"/>
              </a:rPr>
              <a:t>Restaurant_Name</a:t>
            </a:r>
            <a:r>
              <a:rPr lang="en-US" sz="2000" dirty="0">
                <a:latin typeface="Libre Baskerville"/>
              </a:rPr>
              <a:t>, City, and Overall_Rating.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E5E68-E9E9-646E-6D40-AD0CA8C0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35" y="1536700"/>
            <a:ext cx="4164330" cy="2443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3E66D-2510-72ED-A6EE-7120CAE1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980180"/>
            <a:ext cx="4171950" cy="2707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7B53FD-1DC6-0DA3-D646-E262CDB3E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970" y="2225675"/>
            <a:ext cx="547878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810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ABC705B3-2507-3318-2E7F-DE3864CC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170B3-0F85-0B59-9DAA-45E6F552A0C8}"/>
              </a:ext>
            </a:extLst>
          </p:cNvPr>
          <p:cNvSpPr txBox="1"/>
          <p:nvPr/>
        </p:nvSpPr>
        <p:spPr>
          <a:xfrm>
            <a:off x="26762" y="399046"/>
            <a:ext cx="121615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Libre Baskerville"/>
              </a:rPr>
              <a:t>31. First, create a VIEW named </a:t>
            </a:r>
            <a:r>
              <a:rPr lang="en-US" sz="1800" dirty="0" err="1">
                <a:latin typeface="Libre Baskerville"/>
              </a:rPr>
              <a:t>ConsumerAverageRatings</a:t>
            </a:r>
            <a:r>
              <a:rPr lang="en-US" sz="1800" dirty="0">
                <a:latin typeface="Libre Baskerville"/>
              </a:rPr>
              <a:t> that lists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 and their average Overall_Rating. Then, using this view and a CTE, find the top 5 consumers by their average overall rating. For these top 5 consumers, list their </a:t>
            </a:r>
            <a:r>
              <a:rPr lang="en-US" sz="1800" dirty="0" err="1">
                <a:latin typeface="Libre Baskerville"/>
              </a:rPr>
              <a:t>Consumer_ID</a:t>
            </a:r>
            <a:r>
              <a:rPr lang="en-US" sz="1800" dirty="0">
                <a:latin typeface="Libre Baskerville"/>
              </a:rPr>
              <a:t>, their average rating, and the number of 'Mexican' restaurants they have rated.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89467-192C-C0A3-5382-8D028FF01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05" y="1902142"/>
            <a:ext cx="4298950" cy="2200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1A6C92-A801-07D1-76B3-FFE28BB6D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42" y="1905953"/>
            <a:ext cx="3836035" cy="4011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F79DEF-AD7F-5903-F4F8-972F3F009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" y="4739323"/>
            <a:ext cx="52959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452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3AD4573-A74A-0C2B-918C-AE9CC869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7F02D-CD0E-2C27-E219-662500621BD8}"/>
              </a:ext>
            </a:extLst>
          </p:cNvPr>
          <p:cNvSpPr txBox="1"/>
          <p:nvPr/>
        </p:nvSpPr>
        <p:spPr>
          <a:xfrm>
            <a:off x="606000" y="225041"/>
            <a:ext cx="109728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ibre Baskerville"/>
              </a:rPr>
              <a:t>32. Create a stored procedure named </a:t>
            </a:r>
            <a:r>
              <a:rPr lang="en-US" sz="2000" dirty="0" err="1">
                <a:latin typeface="Libre Baskerville"/>
              </a:rPr>
              <a:t>GetConsumerSegmentAndRestaurantPerformance</a:t>
            </a:r>
            <a:r>
              <a:rPr lang="en-US" sz="2000" dirty="0">
                <a:latin typeface="Libre Baskerville"/>
              </a:rPr>
              <a:t> that accepts a </a:t>
            </a:r>
            <a:r>
              <a:rPr lang="en-US" sz="2000" dirty="0" err="1">
                <a:latin typeface="Libre Baskerville"/>
              </a:rPr>
              <a:t>Consumer_ID</a:t>
            </a:r>
            <a:r>
              <a:rPr lang="en-US" sz="2000" dirty="0">
                <a:latin typeface="Libre Baskerville"/>
              </a:rPr>
              <a:t> as input.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2346D-531E-5D75-CD1A-DC358B90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70" y="1412558"/>
            <a:ext cx="3619500" cy="30981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C85BD3-2B19-F8AE-00CE-6D4A3CED3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160" y="1417320"/>
            <a:ext cx="3647440" cy="309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120BD-957F-F618-E928-E3E751651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975" y="1422400"/>
            <a:ext cx="3823970" cy="3108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CC4CD-DA58-0396-1C0B-07CA1997D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742" y="5303202"/>
            <a:ext cx="4425315" cy="325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3E591-264A-45B5-CF30-AA551E9FE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4685563"/>
            <a:ext cx="6746240" cy="188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63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3A2B23-2AA8-AFBD-B9D7-F41EF0BA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9B055-3035-96BF-B3C6-35456A48D755}"/>
              </a:ext>
            </a:extLst>
          </p:cNvPr>
          <p:cNvSpPr txBox="1"/>
          <p:nvPr/>
        </p:nvSpPr>
        <p:spPr>
          <a:xfrm>
            <a:off x="664488" y="173285"/>
            <a:ext cx="45629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What I Learned &amp;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33A018-FC84-5981-0BDA-750E0450A426}"/>
              </a:ext>
            </a:extLst>
          </p:cNvPr>
          <p:cNvSpPr/>
          <p:nvPr/>
        </p:nvSpPr>
        <p:spPr>
          <a:xfrm>
            <a:off x="659993" y="629535"/>
            <a:ext cx="1615428" cy="125135"/>
          </a:xfrm>
          <a:prstGeom prst="rect">
            <a:avLst/>
          </a:prstGeom>
          <a:solidFill>
            <a:srgbClr val="07A8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6CFC2-259C-F54D-C419-47447357A972}"/>
              </a:ext>
            </a:extLst>
          </p:cNvPr>
          <p:cNvSpPr txBox="1"/>
          <p:nvPr/>
        </p:nvSpPr>
        <p:spPr>
          <a:xfrm>
            <a:off x="660071" y="929813"/>
            <a:ext cx="61551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ptos"/>
              </a:rPr>
              <a:t>From raw data to a complete SQL analysis</a:t>
            </a:r>
            <a:endParaRPr lang="en-US">
              <a:latin typeface="Apto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03C9EB46-7153-EE52-623D-C84F89AF1673}"/>
              </a:ext>
            </a:extLst>
          </p:cNvPr>
          <p:cNvSpPr/>
          <p:nvPr/>
        </p:nvSpPr>
        <p:spPr>
          <a:xfrm rot="10800000">
            <a:off x="815994" y="1497032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89225837-7C7A-CC6C-8FF9-4A2B99DD930F}"/>
              </a:ext>
            </a:extLst>
          </p:cNvPr>
          <p:cNvSpPr/>
          <p:nvPr/>
        </p:nvSpPr>
        <p:spPr>
          <a:xfrm rot="10800000">
            <a:off x="4566702" y="1497032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D04025E2-B0AE-2A77-EDE8-12F03365FD13}"/>
              </a:ext>
            </a:extLst>
          </p:cNvPr>
          <p:cNvSpPr/>
          <p:nvPr/>
        </p:nvSpPr>
        <p:spPr>
          <a:xfrm rot="10800000">
            <a:off x="8240224" y="3464584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AAC2F32E-8E40-0FEB-CFFE-F5C0994C28EA}"/>
              </a:ext>
            </a:extLst>
          </p:cNvPr>
          <p:cNvSpPr/>
          <p:nvPr/>
        </p:nvSpPr>
        <p:spPr>
          <a:xfrm rot="10800000">
            <a:off x="8240223" y="1497031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30D1DC8E-4512-5491-88C1-18DC1C045E3D}"/>
              </a:ext>
            </a:extLst>
          </p:cNvPr>
          <p:cNvSpPr/>
          <p:nvPr/>
        </p:nvSpPr>
        <p:spPr>
          <a:xfrm rot="10800000">
            <a:off x="4566701" y="3464583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2F8FC434-46F5-EC23-F85D-AD70D8047830}"/>
              </a:ext>
            </a:extLst>
          </p:cNvPr>
          <p:cNvSpPr/>
          <p:nvPr/>
        </p:nvSpPr>
        <p:spPr>
          <a:xfrm rot="10800000">
            <a:off x="836313" y="3464584"/>
            <a:ext cx="3379124" cy="1552949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8230B6-D857-C874-1205-00ADDBA07C0E}"/>
              </a:ext>
            </a:extLst>
          </p:cNvPr>
          <p:cNvSpPr txBox="1"/>
          <p:nvPr/>
        </p:nvSpPr>
        <p:spPr>
          <a:xfrm>
            <a:off x="990051" y="171897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Database skills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B07ACB-09F8-E8FE-7B10-351D5F9BC94E}"/>
              </a:ext>
            </a:extLst>
          </p:cNvPr>
          <p:cNvSpPr txBox="1"/>
          <p:nvPr/>
        </p:nvSpPr>
        <p:spPr>
          <a:xfrm>
            <a:off x="995889" y="2020689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Relational design, primary keys, foreign keys and relationship validation.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48785-5A8C-F2AA-70EF-19B3AC735899}"/>
              </a:ext>
            </a:extLst>
          </p:cNvPr>
          <p:cNvSpPr/>
          <p:nvPr/>
        </p:nvSpPr>
        <p:spPr>
          <a:xfrm>
            <a:off x="830620" y="1497032"/>
            <a:ext cx="3379348" cy="18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47A5FA-3409-D37A-D6EF-0ACE04697780}"/>
              </a:ext>
            </a:extLst>
          </p:cNvPr>
          <p:cNvSpPr/>
          <p:nvPr/>
        </p:nvSpPr>
        <p:spPr>
          <a:xfrm>
            <a:off x="4572380" y="1497031"/>
            <a:ext cx="3379348" cy="187744"/>
          </a:xfrm>
          <a:prstGeom prst="rect">
            <a:avLst/>
          </a:prstGeom>
          <a:solidFill>
            <a:srgbClr val="07A8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089D0D-BD2A-C673-4C63-18E483AB39F9}"/>
              </a:ext>
            </a:extLst>
          </p:cNvPr>
          <p:cNvSpPr/>
          <p:nvPr/>
        </p:nvSpPr>
        <p:spPr>
          <a:xfrm>
            <a:off x="8245903" y="1497031"/>
            <a:ext cx="3379348" cy="187744"/>
          </a:xfrm>
          <a:prstGeom prst="rect">
            <a:avLst/>
          </a:prstGeom>
          <a:solidFill>
            <a:srgbClr val="D6B1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8CB32-27A8-6F9A-76A4-C10559E89F07}"/>
              </a:ext>
            </a:extLst>
          </p:cNvPr>
          <p:cNvSpPr/>
          <p:nvPr/>
        </p:nvSpPr>
        <p:spPr>
          <a:xfrm>
            <a:off x="830620" y="3464584"/>
            <a:ext cx="3379348" cy="187744"/>
          </a:xfrm>
          <a:prstGeom prst="rect">
            <a:avLst/>
          </a:prstGeom>
          <a:solidFill>
            <a:srgbClr val="D6B1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85BD4D-FFB2-9EC9-BEBC-5098A37B7283}"/>
              </a:ext>
            </a:extLst>
          </p:cNvPr>
          <p:cNvSpPr/>
          <p:nvPr/>
        </p:nvSpPr>
        <p:spPr>
          <a:xfrm>
            <a:off x="4572381" y="3464584"/>
            <a:ext cx="3379348" cy="187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C8FD39-A5D9-43FE-0212-963D77D1A42C}"/>
              </a:ext>
            </a:extLst>
          </p:cNvPr>
          <p:cNvSpPr/>
          <p:nvPr/>
        </p:nvSpPr>
        <p:spPr>
          <a:xfrm>
            <a:off x="8245903" y="3464583"/>
            <a:ext cx="3379348" cy="1877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28D730-4E2A-923C-1A28-26AC6F0F0327}"/>
              </a:ext>
            </a:extLst>
          </p:cNvPr>
          <p:cNvSpPr txBox="1"/>
          <p:nvPr/>
        </p:nvSpPr>
        <p:spPr>
          <a:xfrm>
            <a:off x="4892930" y="1719071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SQL skills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37912-462E-1D9F-980D-4510FDBC0220}"/>
              </a:ext>
            </a:extLst>
          </p:cNvPr>
          <p:cNvSpPr txBox="1"/>
          <p:nvPr/>
        </p:nvSpPr>
        <p:spPr>
          <a:xfrm>
            <a:off x="4893009" y="2020657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Filtering, joins, aggregation, subqueries, CTEs and window functions.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ADEC5-D42C-1D69-36BD-2F9F19389665}"/>
              </a:ext>
            </a:extLst>
          </p:cNvPr>
          <p:cNvSpPr txBox="1"/>
          <p:nvPr/>
        </p:nvSpPr>
        <p:spPr>
          <a:xfrm>
            <a:off x="8556654" y="1724701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Advanced skills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098F7F-71DB-C83F-272F-0137A6C1BF4A}"/>
              </a:ext>
            </a:extLst>
          </p:cNvPr>
          <p:cNvSpPr txBox="1"/>
          <p:nvPr/>
        </p:nvSpPr>
        <p:spPr>
          <a:xfrm>
            <a:off x="8556765" y="2026305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Views, stored procedures, ranking and sequential row </a:t>
            </a:r>
            <a:r>
              <a:rPr lang="en-US" dirty="0" err="1">
                <a:latin typeface="Aptos"/>
              </a:rPr>
              <a:t>comparisions</a:t>
            </a:r>
            <a:r>
              <a:rPr lang="en-US" dirty="0">
                <a:latin typeface="Aptos"/>
              </a:rPr>
              <a:t>.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26AD5C-CCB0-8164-8576-BD34D956DF0E}"/>
              </a:ext>
            </a:extLst>
          </p:cNvPr>
          <p:cNvSpPr txBox="1"/>
          <p:nvPr/>
        </p:nvSpPr>
        <p:spPr>
          <a:xfrm>
            <a:off x="990274" y="3824039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quality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70BDF7-194A-B1D3-3552-6E8301CBB845}"/>
              </a:ext>
            </a:extLst>
          </p:cNvPr>
          <p:cNvSpPr txBox="1"/>
          <p:nvPr/>
        </p:nvSpPr>
        <p:spPr>
          <a:xfrm>
            <a:off x="4892961" y="3818376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Analytical thinking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791F88-A914-16E8-C2E4-24C13737A0DA}"/>
              </a:ext>
            </a:extLst>
          </p:cNvPr>
          <p:cNvSpPr txBox="1"/>
          <p:nvPr/>
        </p:nvSpPr>
        <p:spPr>
          <a:xfrm>
            <a:off x="8562843" y="3812714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Practical capability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F12E78-D84D-3C74-1B2B-EC9E65803479}"/>
              </a:ext>
            </a:extLst>
          </p:cNvPr>
          <p:cNvSpPr txBox="1"/>
          <p:nvPr/>
        </p:nvSpPr>
        <p:spPr>
          <a:xfrm>
            <a:off x="990401" y="4125658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Duplicate detection, consistency checks and actual value validation.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94BC82-4E2B-1C1E-034D-3C239C028A82}"/>
              </a:ext>
            </a:extLst>
          </p:cNvPr>
          <p:cNvSpPr txBox="1"/>
          <p:nvPr/>
        </p:nvSpPr>
        <p:spPr>
          <a:xfrm>
            <a:off x="4881588" y="4125658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Translate questions into SQL logic and interpret results without overclaiming.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CFC4CC-87A7-D630-8903-D66A2A67BCF0}"/>
              </a:ext>
            </a:extLst>
          </p:cNvPr>
          <p:cNvSpPr txBox="1"/>
          <p:nvPr/>
        </p:nvSpPr>
        <p:spPr>
          <a:xfrm>
            <a:off x="8568171" y="4057340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Connect raw data. Database structures, SQL analysis and evidence-based observations.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B9C239-FEC5-0E57-F3F4-2F3A1C57814D}"/>
              </a:ext>
            </a:extLst>
          </p:cNvPr>
          <p:cNvSpPr/>
          <p:nvPr/>
        </p:nvSpPr>
        <p:spPr>
          <a:xfrm>
            <a:off x="833466" y="5317770"/>
            <a:ext cx="7623544" cy="97570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69936-BE41-F872-37AA-33146112F7D9}"/>
              </a:ext>
            </a:extLst>
          </p:cNvPr>
          <p:cNvSpPr txBox="1"/>
          <p:nvPr/>
        </p:nvSpPr>
        <p:spPr>
          <a:xfrm>
            <a:off x="992342" y="5502664"/>
            <a:ext cx="12090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D6B140"/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AC239-02B8-7F95-4C21-FD80AFB37CF5}"/>
              </a:ext>
            </a:extLst>
          </p:cNvPr>
          <p:cNvSpPr txBox="1"/>
          <p:nvPr/>
        </p:nvSpPr>
        <p:spPr>
          <a:xfrm>
            <a:off x="2201699" y="5414477"/>
            <a:ext cx="595376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This project demonstrates practical SQL and data analysis capability across database design, data quality, relational querying, advanced SQL and reusable database objects.</a:t>
            </a:r>
          </a:p>
        </p:txBody>
      </p:sp>
    </p:spTree>
    <p:extLst>
      <p:ext uri="{BB962C8B-B14F-4D97-AF65-F5344CB8AC3E}">
        <p14:creationId xmlns:p14="http://schemas.microsoft.com/office/powerpoint/2010/main" val="34220403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Single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6E9D1BCE-8DC8-6A21-536B-FF904263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B9140-FFFF-CE0F-9B58-FF606EAF3763}"/>
              </a:ext>
            </a:extLst>
          </p:cNvPr>
          <p:cNvSpPr txBox="1"/>
          <p:nvPr/>
        </p:nvSpPr>
        <p:spPr>
          <a:xfrm>
            <a:off x="1124796" y="1571059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Aptos"/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A527D-AE43-7D46-BC08-66C20CDE6131}"/>
              </a:ext>
            </a:extLst>
          </p:cNvPr>
          <p:cNvSpPr/>
          <p:nvPr/>
        </p:nvSpPr>
        <p:spPr>
          <a:xfrm>
            <a:off x="1125228" y="2387888"/>
            <a:ext cx="1672630" cy="1024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09079-25D6-A31B-0BA2-504B839D1694}"/>
              </a:ext>
            </a:extLst>
          </p:cNvPr>
          <p:cNvSpPr txBox="1"/>
          <p:nvPr/>
        </p:nvSpPr>
        <p:spPr>
          <a:xfrm>
            <a:off x="1128854" y="2907229"/>
            <a:ext cx="4460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Aptos"/>
              </a:rPr>
              <a:t>Restaurant &amp; Consumer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4BE29-9E7A-DE1F-95FF-9F3B2478DCD0}"/>
              </a:ext>
            </a:extLst>
          </p:cNvPr>
          <p:cNvSpPr txBox="1"/>
          <p:nvPr/>
        </p:nvSpPr>
        <p:spPr>
          <a:xfrm>
            <a:off x="1127645" y="3426137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Aptos"/>
              </a:rPr>
              <a:t>Using SQL &amp; MYSQL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E5F20-F799-2DD0-80F7-125473AF5B43}"/>
              </a:ext>
            </a:extLst>
          </p:cNvPr>
          <p:cNvSpPr txBox="1"/>
          <p:nvPr/>
        </p:nvSpPr>
        <p:spPr>
          <a:xfrm>
            <a:off x="1125227" y="5227136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D6B140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4C37A-1C19-05EC-28A4-946ADCD56E88}"/>
              </a:ext>
            </a:extLst>
          </p:cNvPr>
          <p:cNvSpPr txBox="1"/>
          <p:nvPr/>
        </p:nvSpPr>
        <p:spPr>
          <a:xfrm>
            <a:off x="1126033" y="5757470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2">
                    <a:lumMod val="20000"/>
                    <a:lumOff val="80000"/>
                  </a:schemeClr>
                </a:solidFill>
                <a:latin typeface="Aptos"/>
              </a:rPr>
              <a:t>Yaswanth Reddy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9DD59-ACB6-64FE-F823-0AE08B5D3E88}"/>
              </a:ext>
            </a:extLst>
          </p:cNvPr>
          <p:cNvSpPr/>
          <p:nvPr/>
        </p:nvSpPr>
        <p:spPr>
          <a:xfrm>
            <a:off x="10581947" y="2526013"/>
            <a:ext cx="546165" cy="305511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669F48-4F8D-A5A8-979B-101B5E97944D}"/>
              </a:ext>
            </a:extLst>
          </p:cNvPr>
          <p:cNvSpPr/>
          <p:nvPr/>
        </p:nvSpPr>
        <p:spPr>
          <a:xfrm>
            <a:off x="9921547" y="3155933"/>
            <a:ext cx="546165" cy="2425190"/>
          </a:xfrm>
          <a:prstGeom prst="rect">
            <a:avLst/>
          </a:prstGeom>
          <a:solidFill>
            <a:srgbClr val="94C2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5DFFD-C6C4-EAE8-9547-AD0DE153731D}"/>
              </a:ext>
            </a:extLst>
          </p:cNvPr>
          <p:cNvSpPr/>
          <p:nvPr/>
        </p:nvSpPr>
        <p:spPr>
          <a:xfrm>
            <a:off x="9220507" y="3674093"/>
            <a:ext cx="586805" cy="1907030"/>
          </a:xfrm>
          <a:prstGeom prst="rect">
            <a:avLst/>
          </a:prstGeom>
          <a:solidFill>
            <a:srgbClr val="2970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D1452A-CA4E-63CD-FD92-8E5E49459AEE}"/>
              </a:ext>
            </a:extLst>
          </p:cNvPr>
          <p:cNvSpPr/>
          <p:nvPr/>
        </p:nvSpPr>
        <p:spPr>
          <a:xfrm>
            <a:off x="8560107" y="4405613"/>
            <a:ext cx="546165" cy="1175510"/>
          </a:xfrm>
          <a:prstGeom prst="rect">
            <a:avLst/>
          </a:prstGeom>
          <a:solidFill>
            <a:srgbClr val="D6B1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758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43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revision>1362</cp:revision>
  <dcterms:created xsi:type="dcterms:W3CDTF">2021-02-16T05:19:01Z</dcterms:created>
  <dcterms:modified xsi:type="dcterms:W3CDTF">2026-09-06T18:02:00Z</dcterms:modified>
</cp:coreProperties>
</file>